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7"/>
  </p:notesMasterIdLst>
  <p:sldIdLst>
    <p:sldId id="258" r:id="rId2"/>
    <p:sldId id="259" r:id="rId3"/>
    <p:sldId id="260" r:id="rId4"/>
    <p:sldId id="262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4" r:id="rId14"/>
    <p:sldId id="273" r:id="rId15"/>
    <p:sldId id="274" r:id="rId16"/>
    <p:sldId id="275" r:id="rId17"/>
    <p:sldId id="285" r:id="rId18"/>
    <p:sldId id="276" r:id="rId19"/>
    <p:sldId id="291" r:id="rId20"/>
    <p:sldId id="295" r:id="rId21"/>
    <p:sldId id="296" r:id="rId22"/>
    <p:sldId id="299" r:id="rId23"/>
    <p:sldId id="290" r:id="rId24"/>
    <p:sldId id="304" r:id="rId25"/>
    <p:sldId id="302" r:id="rId26"/>
    <p:sldId id="305" r:id="rId27"/>
    <p:sldId id="303" r:id="rId28"/>
    <p:sldId id="301" r:id="rId29"/>
    <p:sldId id="306" r:id="rId30"/>
    <p:sldId id="307" r:id="rId31"/>
    <p:sldId id="309" r:id="rId32"/>
    <p:sldId id="300" r:id="rId33"/>
    <p:sldId id="277" r:id="rId34"/>
    <p:sldId id="287" r:id="rId35"/>
    <p:sldId id="286" r:id="rId36"/>
    <p:sldId id="289" r:id="rId37"/>
    <p:sldId id="278" r:id="rId38"/>
    <p:sldId id="279" r:id="rId39"/>
    <p:sldId id="310" r:id="rId40"/>
    <p:sldId id="280" r:id="rId41"/>
    <p:sldId id="281" r:id="rId42"/>
    <p:sldId id="282" r:id="rId43"/>
    <p:sldId id="292" r:id="rId44"/>
    <p:sldId id="293" r:id="rId45"/>
    <p:sldId id="284" r:id="rId4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5F7"/>
    <a:srgbClr val="E5D5F3"/>
    <a:srgbClr val="D5BBEB"/>
    <a:srgbClr val="C5A1E3"/>
    <a:srgbClr val="F39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8" y="64"/>
      </p:cViewPr>
      <p:guideLst>
        <p:guide orient="horz" pos="162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90920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7c82bc41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7c82bc41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87c82bc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87c82bc4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7c82bc41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7c82bc41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9E0B9F19-4A3E-1FCE-CB4F-E9A01C8C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95FB1114-BA2F-B1A5-9A85-A2F86C466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DD2277C0-A67B-3202-5218-7F3D44186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191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929ACD1-546C-D1A0-4163-AB6C2721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46915791-E9B3-8806-BFFF-68FD260AA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A430433F-F20A-36A7-A54A-C1867736D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103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EB9334C-E1E2-2621-C16A-948583C5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DC5DFA0B-DE7B-D531-58E5-21A730477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91E261F9-7EFD-F2AF-6FE9-36C38737F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480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89F869-E229-AD6C-43E7-CF5ED9DE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42ECC019-6B7A-671A-3CA9-31ED3933C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D5C5ED60-057A-4989-8C49-C54E24582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297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C04FC5E-EB77-193F-5C5A-A2C6E787F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7277DB6A-99A2-E2AE-73D2-07FCEA72E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196FDFAC-E3E7-9E72-C323-9A4973840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215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CAF6F11-AE5E-855A-DE43-93A558E3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A22FFDE4-0414-1DDC-0FFF-B5BCDE40F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75623020-238F-BFC7-34D3-FBEC14C13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7984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77632B2-EF94-B2B9-1627-AD80C54C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5228EF85-5389-F4CE-FD5F-51608BF6DE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D3CD0CE2-108D-F8BC-F67C-EDCEF69BC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108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0CADFA1-4CA3-0E2E-7BBD-972DCD49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D699C5E6-98CB-50B1-9D79-603DDA76F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7931B34F-A476-3F12-2144-ED809E0E8D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224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D565C418-27E7-8CF8-CED3-F09124C8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ADCBE817-121E-AA8B-3F66-858814E35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4C33FB04-5F97-52C8-2B9F-48785B9B7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581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A671E111-4F6E-8FBE-B79F-E87ADB40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BA2EC709-F4F3-9C96-17F5-7CEB7AB5A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1188C870-7AFA-DA01-5FFD-0432B2FBE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94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0C71E29-60D9-C4AC-77C6-FE29649A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E1E6BD24-C1C5-EEE6-1471-B49AA06C1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9B842886-1816-B754-557A-3E09F2838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798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80B41667-7569-424C-7051-79B3E359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>
            <a:extLst>
              <a:ext uri="{FF2B5EF4-FFF2-40B4-BE49-F238E27FC236}">
                <a16:creationId xmlns:a16="http://schemas.microsoft.com/office/drawing/2014/main" id="{1B51EF0B-DD17-77E4-D0D7-EE0F61D35F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>
            <a:extLst>
              <a:ext uri="{FF2B5EF4-FFF2-40B4-BE49-F238E27FC236}">
                <a16:creationId xmlns:a16="http://schemas.microsoft.com/office/drawing/2014/main" id="{78CF86D2-AC8F-7782-EBE4-EDCFC1C99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1190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13D28114-0BAC-491B-82F5-1D908CCD72C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214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4274D1D-88BD-5716-39BE-85509E98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>
            <a:extLst>
              <a:ext uri="{FF2B5EF4-FFF2-40B4-BE49-F238E27FC236}">
                <a16:creationId xmlns:a16="http://schemas.microsoft.com/office/drawing/2014/main" id="{9245F15F-3933-3C9C-9AD8-A55111251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>
            <a:extLst>
              <a:ext uri="{FF2B5EF4-FFF2-40B4-BE49-F238E27FC236}">
                <a16:creationId xmlns:a16="http://schemas.microsoft.com/office/drawing/2014/main" id="{C6A68344-18E3-90B3-388E-99AC317D1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2767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87c82bc41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87c82bc41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7c82bc41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7c82bc41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21925" y="4917825"/>
            <a:ext cx="91221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3255" y="473529"/>
            <a:ext cx="803944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3200" b="1" dirty="0">
                <a:latin typeface="Times New Roman" pitchFamily="18" charset="0"/>
                <a:cs typeface="Times New Roman" pitchFamily="18" charset="0"/>
              </a:rPr>
              <a:t>Synopsis Presentation</a:t>
            </a:r>
          </a:p>
          <a:p>
            <a:pPr algn="ctr" eaLnBrk="1" hangingPunct="1"/>
            <a:r>
              <a:rPr lang="en-US" altLang="en-US" sz="1800" dirty="0"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GenAI Approach for Detection of Depression.</a:t>
            </a:r>
            <a:endParaRPr lang="en-US" alt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br>
              <a:rPr lang="en-US" alt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Presented by : </a:t>
            </a:r>
          </a:p>
          <a:p>
            <a:pPr eaLnBrk="1" hangingPunct="1"/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Mr. Harsh Bajaj</a:t>
            </a:r>
          </a:p>
          <a:p>
            <a:pPr algn="ctr" eaLnBrk="1" hangingPunct="1"/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b="1" dirty="0">
                <a:latin typeface="Times New Roman" pitchFamily="18" charset="0"/>
                <a:cs typeface="Times New Roman" pitchFamily="18" charset="0"/>
              </a:rPr>
              <a:t>  (B.Tech CSE Final Year Sec B )</a:t>
            </a:r>
          </a:p>
          <a:p>
            <a:pPr algn="ctr"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r>
              <a:rPr lang="en-US" altLang="en-US" sz="1600" b="1" dirty="0">
                <a:solidFill>
                  <a:schemeClr val="tx1"/>
                </a:solidFill>
              </a:rPr>
              <a:t>                                                         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Sneha</a:t>
            </a:r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1600" b="1" dirty="0" err="1">
                <a:latin typeface="Times New Roman" pitchFamily="18" charset="0"/>
                <a:cs typeface="Times New Roman" pitchFamily="18" charset="0"/>
              </a:rPr>
              <a:t>Bohra</a:t>
            </a:r>
            <a:endParaRPr lang="en-US" altLang="en-US" sz="1600" b="1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/>
            <a:endParaRPr lang="en-US" altLang="en-US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Department of Computer Science &amp; Engineering </a:t>
            </a:r>
          </a:p>
          <a:p>
            <a:pPr algn="ctr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G H Raisoni University, Amravati</a:t>
            </a:r>
          </a:p>
          <a:p>
            <a:pPr algn="ctr" eaLnBrk="1" hangingPunct="1"/>
            <a:r>
              <a:rPr lang="en-US" altLang="en-US" sz="1600" b="1" dirty="0">
                <a:latin typeface="Times New Roman" pitchFamily="18" charset="0"/>
                <a:cs typeface="Times New Roman" pitchFamily="18" charset="0"/>
              </a:rPr>
              <a:t>Academic Session: 2025-26</a:t>
            </a:r>
            <a:endParaRPr lang="en-US" sz="1000" dirty="0"/>
          </a:p>
        </p:txBody>
      </p:sp>
      <p:pic>
        <p:nvPicPr>
          <p:cNvPr id="1026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755" y="44645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36873" y="28575"/>
            <a:ext cx="49531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INDEX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Abstract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Proposed System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Dataset Details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Modules Description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16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References </a:t>
            </a:r>
          </a:p>
          <a:p>
            <a:pPr>
              <a:defRPr/>
            </a:pP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ABSTRACT</a:t>
            </a:r>
            <a:endParaRPr sz="3600" b="1" dirty="0">
              <a:solidFill>
                <a:schemeClr val="lt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008410" y="421171"/>
            <a:ext cx="33156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ABSTRACT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778781" y="1265681"/>
            <a:ext cx="7586387" cy="34507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The proposed system aims to build an AI-powered platform that detects and responds to human emotions in real-time using</a:t>
            </a:r>
            <a:r>
              <a:rPr lang="en-US" sz="1300" dirty="0">
                <a:latin typeface="+mn-lt"/>
                <a:cs typeface="Times New Roman" pitchFamily="18" charset="0"/>
              </a:rPr>
              <a:t>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facial expressions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and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 textual input.</a:t>
            </a:r>
            <a:b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</a:br>
            <a:endParaRPr lang="en-US" sz="1300" b="1" kern="1200" dirty="0">
              <a:solidFill>
                <a:schemeClr val="tx1"/>
              </a:solidFill>
              <a:latin typeface="+mn-lt"/>
              <a:ea typeface="+mn-ea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It combines machine learning algorithms with emotion recognition techniques to classify emotional states such as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depression, anxiety, frustration,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or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Calmness.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</a:br>
            <a:endParaRPr lang="en-US" sz="1300" kern="1200" dirty="0">
              <a:solidFill>
                <a:schemeClr val="tx1"/>
              </a:solidFill>
              <a:latin typeface="+mn-lt"/>
              <a:ea typeface="+mn-ea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Once the emotion is identified, the system generates an empathetic and supportive AI response, simulating a conversation with a caring companion.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</a:br>
            <a:endParaRPr lang="en-US" sz="1300" kern="1200" dirty="0">
              <a:solidFill>
                <a:schemeClr val="tx1"/>
              </a:solidFill>
              <a:latin typeface="+mn-lt"/>
              <a:ea typeface="+mn-ea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This solution addresses the lack of emotion-aware systems in today’s AI tools and demonstrates how technology can offer basic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mental wellness support.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</a:br>
            <a:endParaRPr lang="en-US" sz="1300" kern="1200" dirty="0">
              <a:solidFill>
                <a:schemeClr val="tx1"/>
              </a:solidFill>
              <a:latin typeface="+mn-lt"/>
              <a:ea typeface="+mn-ea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The goal is to build an easy-to-use system that feels comforting, and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human-centered.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846485" y="314656"/>
            <a:ext cx="33156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Introduction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095375" y="930945"/>
            <a:ext cx="6983714" cy="29021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today’s fast-paced world, emotional well-being is often overlooked, especially among students and working individuals.</a:t>
            </a:r>
            <a:br>
              <a:rPr lang="en-US" sz="1300" dirty="0">
                <a:latin typeface="+mn-lt"/>
              </a:rPr>
            </a:br>
            <a:endParaRPr lang="en-US" sz="1300" dirty="0">
              <a:latin typeface="+mn-lt"/>
            </a:endParaRPr>
          </a:p>
          <a:p>
            <a:pPr marL="0" indent="0"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proposed project introduces an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AI-based Emotion Detection and Support System.</a:t>
            </a:r>
          </a:p>
          <a:p>
            <a:pPr marL="0" indent="0"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system goes beyond traditional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chatbot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interactions by incorporating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multimodal emotion recognition.</a:t>
            </a:r>
            <a:br>
              <a:rPr lang="en-US" sz="1300" dirty="0">
                <a:latin typeface="+mn-lt"/>
              </a:rPr>
            </a:br>
            <a:endParaRPr lang="en-US" sz="1300" b="1" dirty="0">
              <a:latin typeface="+mn-lt"/>
            </a:endParaRPr>
          </a:p>
          <a:p>
            <a:pPr marL="0" indent="0"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Techniques Include: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 1.  Facial emotion analysis through live camera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   2.  Sentiment detection from written text (e.g. typed messages)</a:t>
            </a:r>
            <a:br>
              <a:rPr lang="en-US" sz="1300" dirty="0">
                <a:latin typeface="+mn-lt"/>
              </a:rPr>
            </a:br>
            <a:endParaRPr lang="en-US" sz="1300" dirty="0">
              <a:latin typeface="+mn-lt"/>
            </a:endParaRPr>
          </a:p>
          <a:p>
            <a:pPr marL="0" indent="0"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system dynamically evaluates the user’s current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emotional state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real-time.</a:t>
            </a:r>
            <a:b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1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then responds to the user with personalized, empathetic replies using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Generative AI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helping provide basic 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emotional support.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928897" y="333706"/>
            <a:ext cx="33156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Objectives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331265" y="1113030"/>
            <a:ext cx="7173483" cy="36336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35000"/>
              </a:lnSpc>
              <a:buSzPct val="100000"/>
              <a:buNone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main objectives of this project are:</a:t>
            </a:r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detect human emotions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 as depression, anxiety, frustration, and calmness using:</a:t>
            </a:r>
          </a:p>
          <a:p>
            <a:pPr marL="857250" lvl="2" indent="-400050">
              <a:lnSpc>
                <a:spcPct val="135000"/>
              </a:lnSpc>
              <a:buSzPct val="100000"/>
              <a:buFont typeface="+mj-lt"/>
              <a:buAutoNum type="romanLcPeriod"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Facial expressions</a:t>
            </a:r>
          </a:p>
          <a:p>
            <a:pPr marL="857250" lvl="2" indent="-400050">
              <a:lnSpc>
                <a:spcPct val="135000"/>
              </a:lnSpc>
              <a:buSzPct val="100000"/>
              <a:buFont typeface="+mj-lt"/>
              <a:buAutoNum type="romanLcPeriod"/>
            </a:pPr>
            <a:r>
              <a:rPr lang="en-US" sz="1300" b="1" kern="1200" dirty="0">
                <a:solidFill>
                  <a:schemeClr val="tx1"/>
                </a:solidFill>
              </a:rPr>
              <a:t>Written text</a:t>
            </a:r>
            <a:endParaRPr lang="en-US" sz="13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combine these multimodal inputs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more accurate and reliable emotional analysis.</a:t>
            </a:r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develop an AI-powered </a:t>
            </a:r>
            <a:r>
              <a:rPr lang="en-US" sz="13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chatbot</a:t>
            </a: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provides real-time, kind, and context-aware responses based on the user's emotional state.</a:t>
            </a:r>
          </a:p>
          <a:p>
            <a:pPr marL="228600" indent="-228600">
              <a:lnSpc>
                <a:spcPct val="135000"/>
              </a:lnSpc>
              <a:buSzPct val="100000"/>
              <a:buFont typeface="+mj-lt"/>
              <a:buAutoNum type="arabicPeriod"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ensure ease of use, 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allowing even non-technical users to interact comfortably with the system.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</a:t>
            </a: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212043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Literature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Review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600453"/>
              </p:ext>
            </p:extLst>
          </p:nvPr>
        </p:nvGraphicFramePr>
        <p:xfrm>
          <a:off x="1123925" y="1031390"/>
          <a:ext cx="7143750" cy="353108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/>
                        <a:t>Method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/>
                        <a:t>Description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/>
                        <a:t>Key Findings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445">
                <a:tc>
                  <a:txBody>
                    <a:bodyPr/>
                    <a:lstStyle/>
                    <a:p>
                      <a:r>
                        <a:rPr lang="en-US" sz="1000" dirty="0"/>
                        <a:t>Multimodal Emotion Detection [1] 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Emotion detection using combined signals from speech, facial expression, and textual input.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Deep learning models significantly improve accuracy when fusing multimodal signals for emotion classification.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96">
                <a:tc>
                  <a:txBody>
                    <a:bodyPr/>
                    <a:lstStyle/>
                    <a:p>
                      <a:r>
                        <a:rPr lang="en-US" sz="1000" dirty="0"/>
                        <a:t>Facial Emotion Analysis [2] 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Detection of emotion from facial cues using CNN and recurrent models.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CNN + RNN models provide robust performance in capturing subtle facial expressions linked with emotional states.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445">
                <a:tc>
                  <a:txBody>
                    <a:bodyPr/>
                    <a:lstStyle/>
                    <a:p>
                      <a:r>
                        <a:rPr lang="en-US" sz="1000" dirty="0"/>
                        <a:t>Voice Tone Analysis [2] 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Uses pitch, tone, vocal tension, and energy patterns from audio to detect emotional state.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Audio-based emotion detection helps identify real-time cues like stress, sadness, and anxiety with high temporal accuracy.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445">
                <a:tc>
                  <a:txBody>
                    <a:bodyPr/>
                    <a:lstStyle/>
                    <a:p>
                      <a:r>
                        <a:rPr lang="en-US" sz="1000" dirty="0"/>
                        <a:t>Emotion-Aware AI </a:t>
                      </a:r>
                      <a:r>
                        <a:rPr lang="en-US" sz="1000" dirty="0" err="1"/>
                        <a:t>Chatbot</a:t>
                      </a:r>
                      <a:r>
                        <a:rPr lang="en-US" sz="1000" dirty="0"/>
                        <a:t> [3] 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Mental health support </a:t>
                      </a:r>
                      <a:r>
                        <a:rPr lang="en-US" sz="1000" dirty="0" err="1"/>
                        <a:t>chatbot</a:t>
                      </a:r>
                      <a:r>
                        <a:rPr lang="en-US" sz="1000" dirty="0"/>
                        <a:t> that generates responses based on detected emotion using Transformer-based NLP.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Transformer models provide emotionally aligned and supportive responses, aiding in early intervention and user comfort in chat systems.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844">
                <a:tc>
                  <a:txBody>
                    <a:bodyPr/>
                    <a:lstStyle/>
                    <a:p>
                      <a:r>
                        <a:rPr lang="en-US" sz="1000" dirty="0"/>
                        <a:t>Textual Sentiment Classification [4] 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Detection of emotion in user comments and text using deep NLP techniques.</a:t>
                      </a:r>
                    </a:p>
                  </a:txBody>
                  <a:tcPr marL="45754" marR="45754" marT="22877" marB="22877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Hybrid models (CNN+LSTM+BERT) improve precision in detecting emotions such as anger, joy, or fear from social media texts.</a:t>
                      </a:r>
                    </a:p>
                  </a:txBody>
                  <a:tcPr marL="45754" marR="45754" marT="22877" marB="2287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2226125" y="2190900"/>
            <a:ext cx="4698300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/>
            <a:r>
              <a:rPr lang="en-US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841431" y="538156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Problem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Statement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421878" y="1550603"/>
            <a:ext cx="6879284" cy="26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>
              <a:spcAft>
                <a:spcPts val="1200"/>
              </a:spcAft>
              <a:buFont typeface="+mj-lt"/>
              <a:buAutoNum type="arabicPeriod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Montserrat"/>
              </a:rPr>
              <a:t>To develop a system that detects user emotions using Facial expressions (via camera) and Text inputs.</a:t>
            </a:r>
            <a:b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Montserrat"/>
              </a:rPr>
            </a:b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  <a:sym typeface="Montserrat"/>
            </a:endParaRPr>
          </a:p>
          <a:p>
            <a:pPr marL="342900" lvl="0">
              <a:spcAft>
                <a:spcPts val="1200"/>
              </a:spcAft>
              <a:buFont typeface="+mj-lt"/>
              <a:buAutoNum type="arabicPeriod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Montserrat"/>
              </a:rPr>
              <a:t>To develop system that  generates Supportive, Human-like responses using Generative AI to comfort or guide the user.</a:t>
            </a:r>
            <a:endParaRPr kern="1200" dirty="0">
              <a:solidFill>
                <a:schemeClr val="tx1"/>
              </a:solidFill>
              <a:latin typeface="+mn-lt"/>
              <a:ea typeface="+mn-ea"/>
              <a:cs typeface="+mn-cs"/>
              <a:sym typeface="Montserra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PROPOSED SYSTEM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562774" y="4274123"/>
            <a:ext cx="3817204" cy="545527"/>
          </a:xfrm>
          <a:prstGeom prst="rect">
            <a:avLst/>
          </a:prstGeom>
          <a:solidFill>
            <a:srgbClr val="EEE5F7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ML/NLP model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Output: Detected Emotion</a:t>
            </a:r>
          </a:p>
        </p:txBody>
      </p:sp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359226" y="254703"/>
            <a:ext cx="3704225" cy="6329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Proposed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System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0" y="4960484"/>
            <a:ext cx="9143999" cy="187453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058" y="2"/>
            <a:ext cx="1724874" cy="62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15;p19"/>
          <p:cNvSpPr txBox="1">
            <a:spLocks/>
          </p:cNvSpPr>
          <p:nvPr/>
        </p:nvSpPr>
        <p:spPr>
          <a:xfrm>
            <a:off x="628191" y="966925"/>
            <a:ext cx="3190946" cy="31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400" b="1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1. Emotion Detection</a:t>
            </a:r>
          </a:p>
        </p:txBody>
      </p:sp>
      <p:sp>
        <p:nvSpPr>
          <p:cNvPr id="15" name="Google Shape;115;p19"/>
          <p:cNvSpPr txBox="1">
            <a:spLocks/>
          </p:cNvSpPr>
          <p:nvPr/>
        </p:nvSpPr>
        <p:spPr>
          <a:xfrm>
            <a:off x="5226565" y="957215"/>
            <a:ext cx="3190946" cy="311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030A0"/>
                </a:solidFill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en-US" sz="1400" b="1" dirty="0">
                <a:solidFill>
                  <a:srgbClr val="7030A0"/>
                </a:solidFill>
                <a:latin typeface="Montserrat"/>
                <a:ea typeface="Montserrat"/>
                <a:cs typeface="Montserrat"/>
              </a:rPr>
              <a:t>AI Response Generation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AD1BBC-1FBA-B13E-DA74-B8D7FDB00B2B}"/>
              </a:ext>
            </a:extLst>
          </p:cNvPr>
          <p:cNvCxnSpPr>
            <a:cxnSpLocks/>
          </p:cNvCxnSpPr>
          <p:nvPr/>
        </p:nvCxnSpPr>
        <p:spPr>
          <a:xfrm>
            <a:off x="4914900" y="1987167"/>
            <a:ext cx="48999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71471" y="1514530"/>
            <a:ext cx="3817204" cy="907175"/>
          </a:xfrm>
          <a:prstGeom prst="rect">
            <a:avLst/>
          </a:prstGeom>
          <a:solidFill>
            <a:srgbClr val="EEE5F7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Rectangle 17"/>
          <p:cNvSpPr/>
          <p:nvPr/>
        </p:nvSpPr>
        <p:spPr>
          <a:xfrm>
            <a:off x="570728" y="1326420"/>
            <a:ext cx="3817205" cy="296420"/>
          </a:xfrm>
          <a:prstGeom prst="rect">
            <a:avLst/>
          </a:prstGeom>
          <a:solidFill>
            <a:srgbClr val="D5BBEB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User 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310" y="1806871"/>
            <a:ext cx="1505677" cy="463667"/>
          </a:xfrm>
          <a:prstGeom prst="roundRect">
            <a:avLst/>
          </a:prstGeom>
          <a:gradFill flip="none" rotWithShape="1">
            <a:gsLst>
              <a:gs pos="0">
                <a:srgbClr val="C5A1E3">
                  <a:tint val="66000"/>
                  <a:satMod val="160000"/>
                </a:srgbClr>
              </a:gs>
              <a:gs pos="50000">
                <a:srgbClr val="C5A1E3">
                  <a:tint val="44500"/>
                  <a:satMod val="160000"/>
                </a:srgbClr>
              </a:gs>
              <a:gs pos="100000">
                <a:srgbClr val="C5A1E3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Webcam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(face)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4826" y="1804434"/>
            <a:ext cx="1643264" cy="463668"/>
          </a:xfrm>
          <a:prstGeom prst="roundRect">
            <a:avLst/>
          </a:prstGeom>
          <a:gradFill flip="none" rotWithShape="1">
            <a:gsLst>
              <a:gs pos="0">
                <a:srgbClr val="C5A1E3">
                  <a:tint val="66000"/>
                  <a:satMod val="160000"/>
                </a:srgbClr>
              </a:gs>
              <a:gs pos="50000">
                <a:srgbClr val="C5A1E3">
                  <a:tint val="44500"/>
                  <a:satMod val="160000"/>
                </a:srgbClr>
              </a:gs>
              <a:gs pos="100000">
                <a:srgbClr val="C5A1E3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Text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(chat)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471" y="2698347"/>
            <a:ext cx="3817207" cy="1032822"/>
          </a:xfrm>
          <a:prstGeom prst="rect">
            <a:avLst/>
          </a:prstGeom>
          <a:solidFill>
            <a:srgbClr val="EEE5F7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571475" y="2687596"/>
            <a:ext cx="3817207" cy="296420"/>
          </a:xfrm>
          <a:prstGeom prst="rect">
            <a:avLst/>
          </a:prstGeom>
          <a:solidFill>
            <a:srgbClr val="D5BBEB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Pre-Processing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9225" y="3122230"/>
            <a:ext cx="1496761" cy="463667"/>
          </a:xfrm>
          <a:prstGeom prst="roundRect">
            <a:avLst/>
          </a:prstGeom>
          <a:gradFill flip="none" rotWithShape="1">
            <a:gsLst>
              <a:gs pos="0">
                <a:srgbClr val="C5A1E3">
                  <a:tint val="66000"/>
                  <a:satMod val="160000"/>
                </a:srgbClr>
              </a:gs>
              <a:gs pos="50000">
                <a:srgbClr val="C5A1E3">
                  <a:tint val="44500"/>
                  <a:satMod val="160000"/>
                </a:srgbClr>
              </a:gs>
              <a:gs pos="100000">
                <a:srgbClr val="C5A1E3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Face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detection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4827" y="3122230"/>
            <a:ext cx="1787332" cy="463668"/>
          </a:xfrm>
          <a:prstGeom prst="roundRect">
            <a:avLst/>
          </a:prstGeom>
          <a:gradFill flip="none" rotWithShape="1">
            <a:gsLst>
              <a:gs pos="0">
                <a:srgbClr val="C5A1E3">
                  <a:tint val="66000"/>
                  <a:satMod val="160000"/>
                </a:srgbClr>
              </a:gs>
              <a:gs pos="50000">
                <a:srgbClr val="C5A1E3">
                  <a:tint val="44500"/>
                  <a:satMod val="160000"/>
                </a:srgbClr>
              </a:gs>
              <a:gs pos="100000">
                <a:srgbClr val="C5A1E3">
                  <a:tint val="23500"/>
                  <a:satMod val="160000"/>
                </a:srgbClr>
              </a:gs>
            </a:gsLst>
            <a:lin ang="2700000" scaled="1"/>
            <a:tileRect/>
          </a:gra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Text cleaning (NLP)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798D3F-93DC-972C-2CC3-A7FAE6D7988E}"/>
              </a:ext>
            </a:extLst>
          </p:cNvPr>
          <p:cNvCxnSpPr/>
          <p:nvPr/>
        </p:nvCxnSpPr>
        <p:spPr>
          <a:xfrm>
            <a:off x="4379978" y="4431086"/>
            <a:ext cx="542925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571477" y="3977703"/>
            <a:ext cx="3808501" cy="296420"/>
          </a:xfrm>
          <a:prstGeom prst="rect">
            <a:avLst/>
          </a:prstGeom>
          <a:solidFill>
            <a:srgbClr val="D5BBEB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User Input</a:t>
            </a:r>
          </a:p>
        </p:txBody>
      </p:sp>
      <p:cxnSp>
        <p:nvCxnSpPr>
          <p:cNvPr id="54" name="Straight Arrow Connector 53"/>
          <p:cNvCxnSpPr>
            <a:cxnSpLocks/>
            <a:stCxn id="27" idx="2"/>
          </p:cNvCxnSpPr>
          <p:nvPr/>
        </p:nvCxnSpPr>
        <p:spPr>
          <a:xfrm>
            <a:off x="1537606" y="3585897"/>
            <a:ext cx="276844" cy="39180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1203719" y="2254960"/>
            <a:ext cx="0" cy="867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804015" y="2264712"/>
            <a:ext cx="0" cy="8672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cxnSpLocks/>
            <a:stCxn id="29" idx="2"/>
          </p:cNvCxnSpPr>
          <p:nvPr/>
        </p:nvCxnSpPr>
        <p:spPr>
          <a:xfrm flipH="1">
            <a:off x="2914650" y="3585898"/>
            <a:ext cx="473843" cy="39180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5404896" y="1328220"/>
            <a:ext cx="3139152" cy="296420"/>
          </a:xfrm>
          <a:prstGeom prst="rect">
            <a:avLst/>
          </a:prstGeom>
          <a:solidFill>
            <a:srgbClr val="D5BBEB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Response Generation (LLM)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04896" y="1624640"/>
            <a:ext cx="3139152" cy="847381"/>
          </a:xfrm>
          <a:prstGeom prst="rect">
            <a:avLst/>
          </a:prstGeom>
          <a:solidFill>
            <a:srgbClr val="EEE5F7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AI selects response tone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en-US" sz="1200" dirty="0" err="1">
                <a:solidFill>
                  <a:schemeClr val="tx1"/>
                </a:solidFill>
              </a:rPr>
              <a:t>motivaion</a:t>
            </a:r>
            <a:r>
              <a:rPr lang="en-US" sz="1200" dirty="0">
                <a:solidFill>
                  <a:schemeClr val="tx1"/>
                </a:solidFill>
              </a:rPr>
              <a:t> / calming etc.)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Uses LLM to generate reply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D798D3F-93DC-972C-2CC3-A7FAE6D7988E}"/>
              </a:ext>
            </a:extLst>
          </p:cNvPr>
          <p:cNvCxnSpPr/>
          <p:nvPr/>
        </p:nvCxnSpPr>
        <p:spPr>
          <a:xfrm flipV="1">
            <a:off x="4922903" y="1987167"/>
            <a:ext cx="0" cy="2443919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404896" y="3066695"/>
            <a:ext cx="3139152" cy="524077"/>
          </a:xfrm>
          <a:prstGeom prst="rect">
            <a:avLst/>
          </a:prstGeom>
          <a:solidFill>
            <a:srgbClr val="EEE5F7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AI based suggestions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04896" y="2784737"/>
            <a:ext cx="3139152" cy="296420"/>
          </a:xfrm>
          <a:prstGeom prst="rect">
            <a:avLst/>
          </a:prstGeom>
          <a:solidFill>
            <a:srgbClr val="D5BBEB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Display Output</a:t>
            </a:r>
          </a:p>
        </p:txBody>
      </p:sp>
      <p:cxnSp>
        <p:nvCxnSpPr>
          <p:cNvPr id="94" name="Straight Arrow Connector 93"/>
          <p:cNvCxnSpPr>
            <a:endCxn id="93" idx="0"/>
          </p:cNvCxnSpPr>
          <p:nvPr/>
        </p:nvCxnSpPr>
        <p:spPr>
          <a:xfrm>
            <a:off x="6974472" y="2402171"/>
            <a:ext cx="0" cy="38256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8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03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801675" y="31780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Methodology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83337" y="1006846"/>
            <a:ext cx="6895752" cy="3693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Input Capture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Webcam will record facial expressions in real-time.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Text Box will allow users to type messages.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 Preprocessing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Facial data will be converted into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</a:rPr>
              <a:t>grayscale</a:t>
            </a:r>
            <a:r>
              <a:rPr lang="en-US" sz="1300" kern="1200" dirty="0">
                <a:solidFill>
                  <a:schemeClr val="tx1"/>
                </a:solidFill>
                <a:latin typeface="+mn-lt"/>
              </a:rPr>
              <a:t> and normalized for emotion classification.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Text will be tokenized, cleaned, and processed for sentiment analysis..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Emotion Detection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Facial Emotion: Will be detected using CNN or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</a:rPr>
              <a:t>OpenCV</a:t>
            </a:r>
            <a:r>
              <a:rPr lang="en-US" sz="1300" kern="1200" dirty="0">
                <a:solidFill>
                  <a:schemeClr val="tx1"/>
                </a:solidFill>
                <a:latin typeface="+mn-lt"/>
              </a:rPr>
              <a:t>-based classifier.</a:t>
            </a:r>
          </a:p>
          <a:p>
            <a:pPr marL="742950" lvl="1" indent="-285750">
              <a:lnSpc>
                <a:spcPct val="12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Text Emotion: Will be detected using NLP techniques like VADER/Transformers.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591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801675" y="421171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Methodology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382121" y="1513663"/>
            <a:ext cx="6879284" cy="3053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Multimodal Fusion</a:t>
            </a:r>
          </a:p>
          <a:p>
            <a:pPr marL="742950" lvl="1" indent="-285750">
              <a:lnSpc>
                <a:spcPct val="13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All 3 emotion scores will be combined using a weighted fusion algorithm.</a:t>
            </a:r>
          </a:p>
          <a:p>
            <a:pPr marL="742950" lvl="1" indent="-285750">
              <a:lnSpc>
                <a:spcPct val="13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Final emotion state (e.g., Depressed, Angry, Calm) will be predicted.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AI-Based Response Generation</a:t>
            </a:r>
          </a:p>
          <a:p>
            <a:pPr marL="742950" lvl="1" indent="-285750">
              <a:lnSpc>
                <a:spcPct val="13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The AI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</a:rPr>
              <a:t>chatbot</a:t>
            </a:r>
            <a:r>
              <a:rPr lang="en-US" sz="1300" kern="1200" dirty="0">
                <a:solidFill>
                  <a:schemeClr val="tx1"/>
                </a:solidFill>
                <a:latin typeface="+mn-lt"/>
              </a:rPr>
              <a:t> will generate an appropriate empathetic response.</a:t>
            </a:r>
          </a:p>
          <a:p>
            <a:pPr marL="742950" lvl="1" indent="-285750">
              <a:lnSpc>
                <a:spcPct val="135000"/>
              </a:lnSpc>
              <a:buFont typeface="+mj-lt"/>
              <a:buAutoNum type="romanLcPeriod"/>
            </a:pPr>
            <a:r>
              <a:rPr lang="en-US" sz="1300" kern="1200" dirty="0">
                <a:solidFill>
                  <a:schemeClr val="tx1"/>
                </a:solidFill>
                <a:latin typeface="+mn-lt"/>
              </a:rPr>
              <a:t>Responses will be emotionally supportive, context-aware, and non-robotic.</a:t>
            </a:r>
            <a:br>
              <a:rPr lang="en-US" sz="1300" kern="1200" dirty="0">
                <a:solidFill>
                  <a:schemeClr val="tx1"/>
                </a:solidFill>
                <a:latin typeface="+mn-lt"/>
              </a:rPr>
            </a:br>
            <a:endParaRPr lang="en-US" sz="1300" kern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406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Dataset Details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074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383071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Dataset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Details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90260" y="1102395"/>
            <a:ext cx="6925040" cy="3387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1. Face Emotion Dataset (FER2013-based)</a:t>
            </a:r>
          </a:p>
          <a:p>
            <a:r>
              <a:rPr lang="en-IN" b="1" dirty="0">
                <a:solidFill>
                  <a:schemeClr val="tx1"/>
                </a:solidFill>
              </a:rPr>
              <a:t>Dataset: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FER2013 (Facial Expression Recognition 2013) → originally 35,887 grayscale face images (48×48 pixels).</a:t>
            </a:r>
          </a:p>
          <a:p>
            <a:r>
              <a:rPr lang="en-IN" b="1" dirty="0">
                <a:solidFill>
                  <a:schemeClr val="tx1"/>
                </a:solidFill>
              </a:rPr>
              <a:t>Original Classes (7):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Angry, Disgust, Fear, Happy, Sad, Surprise, Neutral.</a:t>
            </a:r>
          </a:p>
          <a:p>
            <a:r>
              <a:rPr lang="en-IN" b="1" dirty="0">
                <a:solidFill>
                  <a:schemeClr val="tx1"/>
                </a:solidFill>
              </a:rPr>
              <a:t>Mapped to 4 classes: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Sad → </a:t>
            </a:r>
            <a:r>
              <a:rPr lang="en-IN" b="1" dirty="0">
                <a:solidFill>
                  <a:schemeClr val="tx1"/>
                </a:solidFill>
              </a:rPr>
              <a:t>Depression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Fear + Surprise → </a:t>
            </a:r>
            <a:r>
              <a:rPr lang="en-IN" b="1" dirty="0">
                <a:solidFill>
                  <a:schemeClr val="tx1"/>
                </a:solidFill>
              </a:rPr>
              <a:t>Anxiety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Angry → </a:t>
            </a:r>
            <a:r>
              <a:rPr lang="en-IN" b="1" dirty="0">
                <a:solidFill>
                  <a:schemeClr val="tx1"/>
                </a:solidFill>
              </a:rPr>
              <a:t>Frustration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Neutral + Happy → </a:t>
            </a:r>
            <a:r>
              <a:rPr lang="en-IN" b="1" dirty="0">
                <a:solidFill>
                  <a:schemeClr val="tx1"/>
                </a:solidFill>
              </a:rPr>
              <a:t>Calmness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345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199121B-E5E7-6293-1585-A0301CEB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2791F8F0-4971-47B2-F8BD-7434B7E7BB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Dataset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Details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9EB5E5E9-22FD-AAB9-371F-688C1172E3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82096" y="1102395"/>
            <a:ext cx="6573975" cy="322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Training / Testing Split:</a:t>
            </a:r>
            <a:endParaRPr lang="en-IN" sz="2000" dirty="0">
              <a:solidFill>
                <a:schemeClr val="tx1"/>
              </a:solidFill>
            </a:endParaRP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Training set:</a:t>
            </a:r>
            <a:r>
              <a:rPr lang="en-IN" sz="1600" dirty="0">
                <a:solidFill>
                  <a:schemeClr val="tx1"/>
                </a:solidFill>
              </a:rPr>
              <a:t> ~28,709 images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Public test set:</a:t>
            </a:r>
            <a:r>
              <a:rPr lang="en-IN" sz="1600" dirty="0">
                <a:solidFill>
                  <a:schemeClr val="tx1"/>
                </a:solidFill>
              </a:rPr>
              <a:t> ~3,589 images</a:t>
            </a:r>
          </a:p>
          <a:p>
            <a:pPr lvl="1"/>
            <a:r>
              <a:rPr lang="en-IN" sz="1600" b="1" dirty="0">
                <a:solidFill>
                  <a:schemeClr val="tx1"/>
                </a:solidFill>
              </a:rPr>
              <a:t>Private test set:</a:t>
            </a:r>
            <a:r>
              <a:rPr lang="en-IN" sz="1600" dirty="0">
                <a:solidFill>
                  <a:schemeClr val="tx1"/>
                </a:solidFill>
              </a:rPr>
              <a:t> ~3,589 images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(from Kaggle competition split).</a:t>
            </a:r>
          </a:p>
          <a:p>
            <a:r>
              <a:rPr lang="en-IN" sz="2000" b="1" dirty="0">
                <a:solidFill>
                  <a:schemeClr val="tx1"/>
                </a:solidFill>
              </a:rPr>
              <a:t>Model Used: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CNN model stored in models/fer2013_model/face_fer2013_cnn_plus.h5.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Trained on the above split before being saved and used in our Emotion Detection System.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8C5C6CC2-42EA-6F5B-8433-01D3FE6F647E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9ED94379-7867-7F4B-B06A-B1F5F7AA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820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AB3AA10F-F836-0449-7F6C-684AD4D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14E3B844-0397-D40D-420A-DD7D400200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Dataset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Details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B21B3691-3AA2-A206-5A2E-FA5284654B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82096" y="1102395"/>
            <a:ext cx="7409454" cy="322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solidFill>
                  <a:schemeClr val="tx1"/>
                </a:solidFill>
              </a:rPr>
              <a:t>2. Text Emotion Dataset (</a:t>
            </a:r>
            <a:r>
              <a:rPr lang="en-IN" sz="2000" b="1" dirty="0" err="1">
                <a:solidFill>
                  <a:schemeClr val="tx1"/>
                </a:solidFill>
              </a:rPr>
              <a:t>GoEmotions</a:t>
            </a:r>
            <a:r>
              <a:rPr lang="en-IN" sz="2000" b="1" dirty="0">
                <a:solidFill>
                  <a:schemeClr val="tx1"/>
                </a:solidFill>
              </a:rPr>
              <a:t>-based)</a:t>
            </a:r>
          </a:p>
          <a:p>
            <a:r>
              <a:rPr lang="en-IN" b="1" dirty="0">
                <a:solidFill>
                  <a:schemeClr val="tx1"/>
                </a:solidFill>
              </a:rPr>
              <a:t>Dataset: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Google’s </a:t>
            </a:r>
            <a:r>
              <a:rPr lang="en-IN" sz="1600" b="1" dirty="0" err="1">
                <a:solidFill>
                  <a:schemeClr val="tx1"/>
                </a:solidFill>
              </a:rPr>
              <a:t>GoEmotions</a:t>
            </a:r>
            <a:r>
              <a:rPr lang="en-IN" sz="1600" b="1" dirty="0">
                <a:solidFill>
                  <a:schemeClr val="tx1"/>
                </a:solidFill>
              </a:rPr>
              <a:t> dataset</a:t>
            </a:r>
            <a:r>
              <a:rPr lang="en-IN" sz="1600" dirty="0">
                <a:solidFill>
                  <a:schemeClr val="tx1"/>
                </a:solidFill>
              </a:rPr>
              <a:t> → 58,000 Reddit comments </a:t>
            </a:r>
            <a:r>
              <a:rPr lang="en-IN" sz="1600" dirty="0" err="1">
                <a:solidFill>
                  <a:schemeClr val="tx1"/>
                </a:solidFill>
              </a:rPr>
              <a:t>labeled</a:t>
            </a:r>
            <a:r>
              <a:rPr lang="en-IN" sz="1600" dirty="0">
                <a:solidFill>
                  <a:schemeClr val="tx1"/>
                </a:solidFill>
              </a:rPr>
              <a:t> with 27 emotions + neutral.</a:t>
            </a:r>
          </a:p>
          <a:p>
            <a:r>
              <a:rPr lang="en-IN" b="1" dirty="0">
                <a:solidFill>
                  <a:schemeClr val="tx1"/>
                </a:solidFill>
              </a:rPr>
              <a:t>Original Classes (27 + neutral):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e.g., joy, sadness, anger, fear, disappointment, gratitude, etc.</a:t>
            </a:r>
          </a:p>
          <a:p>
            <a:r>
              <a:rPr lang="en-IN" b="1" dirty="0">
                <a:solidFill>
                  <a:schemeClr val="tx1"/>
                </a:solidFill>
              </a:rPr>
              <a:t>Mapped to </a:t>
            </a:r>
            <a:r>
              <a:rPr lang="en-IN" b="1">
                <a:solidFill>
                  <a:schemeClr val="tx1"/>
                </a:solidFill>
              </a:rPr>
              <a:t>4 classes: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Sadness, hopelessness → </a:t>
            </a:r>
            <a:r>
              <a:rPr lang="en-IN" b="1" dirty="0">
                <a:solidFill>
                  <a:schemeClr val="tx1"/>
                </a:solidFill>
              </a:rPr>
              <a:t>Depression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Fear, worry, nervousness → </a:t>
            </a:r>
            <a:r>
              <a:rPr lang="en-IN" b="1" dirty="0">
                <a:solidFill>
                  <a:schemeClr val="tx1"/>
                </a:solidFill>
              </a:rPr>
              <a:t>Anxiety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Anger, annoyance → </a:t>
            </a:r>
            <a:r>
              <a:rPr lang="en-IN" b="1" dirty="0">
                <a:solidFill>
                  <a:schemeClr val="tx1"/>
                </a:solidFill>
              </a:rPr>
              <a:t>Frustration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Neutral + acceptance → </a:t>
            </a:r>
            <a:r>
              <a:rPr lang="en-IN" b="1" dirty="0">
                <a:solidFill>
                  <a:schemeClr val="tx1"/>
                </a:solidFill>
              </a:rPr>
              <a:t>Calmness</a:t>
            </a:r>
            <a:endParaRPr lang="en-IN" dirty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endParaRPr lang="en-US" sz="13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D814A87F-8FE1-C4DA-7952-281B87B04112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3F5280E5-8068-8E82-0F48-EE129F553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20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909438D-3E95-3095-FECF-F7F8BC2D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48FC18AF-7201-E2FC-574B-071BFED380C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Dataset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Details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2ADFE6BC-82FB-4312-6F28-156D5F86207C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CB77E1F1-5A6B-FFB8-05C0-C392346BC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A14F2-EB1E-60F8-6A70-6834B11CECF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125538" y="1001622"/>
            <a:ext cx="7104062" cy="3490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Training / Testing Split (from </a:t>
            </a:r>
            <a:r>
              <a:rPr lang="en-IN" b="1" dirty="0" err="1">
                <a:solidFill>
                  <a:schemeClr val="tx1"/>
                </a:solidFill>
              </a:rPr>
              <a:t>GoEmotions</a:t>
            </a:r>
            <a:r>
              <a:rPr lang="en-IN" b="1" dirty="0">
                <a:solidFill>
                  <a:schemeClr val="tx1"/>
                </a:solidFill>
              </a:rPr>
              <a:t>):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Training set:</a:t>
            </a:r>
            <a:r>
              <a:rPr lang="en-IN" dirty="0">
                <a:solidFill>
                  <a:schemeClr val="tx1"/>
                </a:solidFill>
              </a:rPr>
              <a:t> ~43,410 examples (≈ 74.5%)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Validation set:</a:t>
            </a:r>
            <a:r>
              <a:rPr lang="en-IN" dirty="0">
                <a:solidFill>
                  <a:schemeClr val="tx1"/>
                </a:solidFill>
              </a:rPr>
              <a:t> ~5,427 examples (≈ 9.3%)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Test set:</a:t>
            </a:r>
            <a:r>
              <a:rPr lang="en-IN" dirty="0">
                <a:solidFill>
                  <a:schemeClr val="tx1"/>
                </a:solidFill>
              </a:rPr>
              <a:t> ~10,114 examples (≈ 16.2%)</a:t>
            </a:r>
          </a:p>
          <a:p>
            <a:r>
              <a:rPr lang="en-IN" b="1" dirty="0">
                <a:solidFill>
                  <a:schemeClr val="tx1"/>
                </a:solidFill>
              </a:rPr>
              <a:t>Preprocessing: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Tokenized with </a:t>
            </a:r>
            <a:r>
              <a:rPr lang="en-IN" dirty="0" err="1">
                <a:solidFill>
                  <a:schemeClr val="tx1"/>
                </a:solidFill>
              </a:rPr>
              <a:t>HuggingFace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AutoTokenizer</a:t>
            </a:r>
            <a:r>
              <a:rPr lang="en-IN" dirty="0">
                <a:solidFill>
                  <a:schemeClr val="tx1"/>
                </a:solidFill>
              </a:rPr>
              <a:t> (</a:t>
            </a:r>
            <a:r>
              <a:rPr lang="en-IN" dirty="0" err="1">
                <a:solidFill>
                  <a:schemeClr val="tx1"/>
                </a:solidFill>
              </a:rPr>
              <a:t>max_length</a:t>
            </a:r>
            <a:r>
              <a:rPr lang="en-IN" dirty="0">
                <a:solidFill>
                  <a:schemeClr val="tx1"/>
                </a:solidFill>
              </a:rPr>
              <a:t>=256, truncation + padding).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Labels collapsed into </a:t>
            </a:r>
            <a:r>
              <a:rPr lang="en-IN" b="1" dirty="0">
                <a:solidFill>
                  <a:schemeClr val="tx1"/>
                </a:solidFill>
              </a:rPr>
              <a:t>4-class format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b="1" dirty="0">
                <a:solidFill>
                  <a:schemeClr val="tx1"/>
                </a:solidFill>
              </a:rPr>
              <a:t>Model Used: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Fine-tuned </a:t>
            </a:r>
            <a:r>
              <a:rPr lang="en-IN" sz="1600" dirty="0" err="1">
                <a:solidFill>
                  <a:schemeClr val="tx1"/>
                </a:solidFill>
              </a:rPr>
              <a:t>HuggingFace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  <a:r>
              <a:rPr lang="en-IN" sz="1600" b="1" dirty="0" err="1">
                <a:solidFill>
                  <a:schemeClr val="tx1"/>
                </a:solidFill>
              </a:rPr>
              <a:t>AutoModelForSequenceClassification</a:t>
            </a:r>
            <a:r>
              <a:rPr lang="en-IN" sz="1600" dirty="0">
                <a:solidFill>
                  <a:schemeClr val="tx1"/>
                </a:solidFill>
              </a:rPr>
              <a:t> stored in: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models/</a:t>
            </a:r>
            <a:r>
              <a:rPr lang="en-IN" sz="1600" dirty="0" err="1">
                <a:solidFill>
                  <a:schemeClr val="tx1"/>
                </a:solidFill>
              </a:rPr>
              <a:t>goemotions_model</a:t>
            </a:r>
            <a:r>
              <a:rPr lang="en-IN" sz="1600" dirty="0">
                <a:solidFill>
                  <a:schemeClr val="tx1"/>
                </a:solidFill>
              </a:rPr>
              <a:t>/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411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623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442EFBB-EB1D-2558-BBA6-DF2B4B41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2B9D20B2-ECC9-1E31-3D6C-CAC7ADA2436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8EA5C8AD-C673-B688-F3E6-EEC4890400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08618" y="1037081"/>
            <a:ext cx="7409454" cy="322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Preprocessing for Text Module</a:t>
            </a: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   Text Cleaning</a:t>
            </a:r>
            <a:endParaRPr lang="en-US" sz="1600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Converted all text to lowercase.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Removed unnecessary punctuation, special symbols, and URLs.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Emojis and informal tokens were dropped.</a:t>
            </a: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   Tokenization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Used </a:t>
            </a:r>
            <a:r>
              <a:rPr lang="en-US" b="1" dirty="0" err="1">
                <a:solidFill>
                  <a:schemeClr val="tx1"/>
                </a:solidFill>
              </a:rPr>
              <a:t>HuggingFace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AutoTokenizer</a:t>
            </a:r>
            <a:r>
              <a:rPr lang="en-US" dirty="0">
                <a:solidFill>
                  <a:schemeClr val="tx1"/>
                </a:solidFill>
              </a:rPr>
              <a:t> (BERT-base style).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Each text was split into tokens (</a:t>
            </a:r>
            <a:r>
              <a:rPr lang="en-US" dirty="0" err="1">
                <a:solidFill>
                  <a:schemeClr val="tx1"/>
                </a:solidFill>
              </a:rPr>
              <a:t>subwords</a:t>
            </a:r>
            <a:r>
              <a:rPr lang="en-US" dirty="0">
                <a:solidFill>
                  <a:schemeClr val="tx1"/>
                </a:solidFill>
              </a:rPr>
              <a:t>).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Applied truncation and padding to ensure uniform sequence length.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b="1" dirty="0">
                <a:solidFill>
                  <a:schemeClr val="tx1"/>
                </a:solidFill>
              </a:rPr>
              <a:t>Max sequence length = 256 tokens.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   Numerical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Encoding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Tokens converted into integer IDs using pretrained tokenizer vocabulary.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Generated attention masks (1 = real token, 0 = padding).</a:t>
            </a:r>
          </a:p>
          <a:p>
            <a:pPr marL="114300" lvl="0" indent="0">
              <a:buNone/>
            </a:pPr>
            <a:endParaRPr lang="en-US" sz="13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FFD702FC-9DE4-96AD-B094-A6852217F5E5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CDB73E2A-5972-A7A2-00D7-29B0EF261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503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E84F76D-436D-EC8C-57D5-9516A345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392420FB-DA6E-1508-BE12-CE51CA50EB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47732C61-F763-CC3D-F260-6C24FBF236F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08617" y="1037081"/>
            <a:ext cx="6647453" cy="3371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Label Mapping</a:t>
            </a:r>
            <a:endParaRPr lang="en-IN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1400" dirty="0">
                <a:solidFill>
                  <a:schemeClr val="tx1"/>
                </a:solidFill>
              </a:rPr>
              <a:t>        Original </a:t>
            </a:r>
            <a:r>
              <a:rPr lang="en-IN" sz="1400" b="1" dirty="0">
                <a:solidFill>
                  <a:schemeClr val="tx1"/>
                </a:solidFill>
              </a:rPr>
              <a:t>27 emotions + neutral</a:t>
            </a:r>
            <a:r>
              <a:rPr lang="en-IN" sz="1400" dirty="0">
                <a:solidFill>
                  <a:schemeClr val="tx1"/>
                </a:solidFill>
              </a:rPr>
              <a:t> collapsed into </a:t>
            </a:r>
            <a:r>
              <a:rPr lang="en-IN" sz="1400" b="1" dirty="0">
                <a:solidFill>
                  <a:schemeClr val="tx1"/>
                </a:solidFill>
              </a:rPr>
              <a:t>4 classes</a:t>
            </a:r>
            <a:r>
              <a:rPr lang="en-IN" sz="1400" dirty="0">
                <a:solidFill>
                  <a:schemeClr val="tx1"/>
                </a:solidFill>
              </a:rPr>
              <a:t>: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Sadness, hopelessness → </a:t>
            </a:r>
            <a:r>
              <a:rPr lang="en-IN" b="1" dirty="0">
                <a:solidFill>
                  <a:schemeClr val="tx1"/>
                </a:solidFill>
              </a:rPr>
              <a:t>Depression</a:t>
            </a:r>
            <a:endParaRPr lang="en-IN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Fear, worry, nervousness → </a:t>
            </a:r>
            <a:r>
              <a:rPr lang="en-IN" b="1" dirty="0">
                <a:solidFill>
                  <a:schemeClr val="tx1"/>
                </a:solidFill>
              </a:rPr>
              <a:t>Anxiety</a:t>
            </a:r>
            <a:endParaRPr lang="en-IN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Anger, annoyance → </a:t>
            </a:r>
            <a:r>
              <a:rPr lang="en-IN" b="1" dirty="0">
                <a:solidFill>
                  <a:schemeClr val="tx1"/>
                </a:solidFill>
              </a:rPr>
              <a:t>Frustration</a:t>
            </a:r>
            <a:endParaRPr lang="en-IN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Neutral, acceptance → </a:t>
            </a:r>
            <a:r>
              <a:rPr lang="en-IN" b="1" dirty="0">
                <a:solidFill>
                  <a:schemeClr val="tx1"/>
                </a:solidFill>
              </a:rPr>
              <a:t>Calmness</a:t>
            </a:r>
          </a:p>
          <a:p>
            <a:pPr marL="939800" lvl="1" indent="-342900">
              <a:buFont typeface="+mj-lt"/>
              <a:buAutoNum type="arabicParenR"/>
            </a:pPr>
            <a:endParaRPr lang="en-IN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Train-Test Split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  Used </a:t>
            </a:r>
            <a:r>
              <a:rPr lang="en-US" sz="1400" b="1" dirty="0">
                <a:solidFill>
                  <a:schemeClr val="tx1"/>
                </a:solidFill>
              </a:rPr>
              <a:t>official </a:t>
            </a:r>
            <a:r>
              <a:rPr lang="en-US" sz="1400" b="1" dirty="0" err="1">
                <a:solidFill>
                  <a:schemeClr val="tx1"/>
                </a:solidFill>
              </a:rPr>
              <a:t>GoEmotions</a:t>
            </a:r>
            <a:r>
              <a:rPr lang="en-US" sz="1400" b="1" dirty="0">
                <a:solidFill>
                  <a:schemeClr val="tx1"/>
                </a:solidFill>
              </a:rPr>
              <a:t> partition</a:t>
            </a:r>
            <a:r>
              <a:rPr lang="en-US" sz="1400" dirty="0">
                <a:solidFill>
                  <a:schemeClr val="tx1"/>
                </a:solidFill>
              </a:rPr>
              <a:t>: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Training set: ~43,410 examples (≈ 74.5%)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Validation set: ~5,427 examples (≈ 9.3%)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Test set: ~10,114 examples (≈ 16.2%)</a:t>
            </a:r>
          </a:p>
          <a:p>
            <a:pPr marL="596900" lvl="1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F0318A40-C10E-6823-A04C-6C1AD92EE9BE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0FDCCF30-D645-9F57-5F82-602C15E9F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061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7129640-F307-A99F-EBB4-674D6A45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1A02A990-590E-E526-980C-E182E6963A9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F4A83F2C-69D7-F8FE-C6F2-6EA7A26C89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08617" y="1037081"/>
            <a:ext cx="7047504" cy="33716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Approximate Class Distribution (after collapsing to 4 classes)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Depression: ~16,000 – 18,000 (≈ 28–30%)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Anxiety: ~11,000 – 13,000 (≈ 20–22%)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Frustration: ~10,000 – 12,000 (≈ 18–20%)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IN" dirty="0">
                <a:solidFill>
                  <a:schemeClr val="tx1"/>
                </a:solidFill>
              </a:rPr>
              <a:t>Calmness: ~15,000 – 17,000 (≈ 28–30%)</a:t>
            </a: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F3A75C33-C2B5-9873-E8FE-6412A28E28C7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766FE425-5CC0-9193-4E71-2EF70AA3B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831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D20979D-A4BD-7CB5-A77B-9F7A1776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C17E3E3F-65AA-7195-6211-D6EC93A689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5360" y="98569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FDBE159B-83A9-B351-6ED2-CC3D7D867E85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C20DE4F4-373B-4E3C-0604-7030F16ED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arallelogram 1">
            <a:extLst>
              <a:ext uri="{FF2B5EF4-FFF2-40B4-BE49-F238E27FC236}">
                <a16:creationId xmlns:a16="http://schemas.microsoft.com/office/drawing/2014/main" id="{ED830E7E-D903-2DAE-3498-AEF382A11547}"/>
              </a:ext>
            </a:extLst>
          </p:cNvPr>
          <p:cNvSpPr/>
          <p:nvPr/>
        </p:nvSpPr>
        <p:spPr>
          <a:xfrm>
            <a:off x="3508191" y="1229392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Text Input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90ADD-1404-C303-1D87-0B8D0C775AFB}"/>
              </a:ext>
            </a:extLst>
          </p:cNvPr>
          <p:cNvSpPr txBox="1"/>
          <p:nvPr/>
        </p:nvSpPr>
        <p:spPr>
          <a:xfrm>
            <a:off x="2090645" y="753298"/>
            <a:ext cx="5092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Preprocessing work flow for Text Module</a:t>
            </a:r>
          </a:p>
        </p:txBody>
      </p:sp>
      <p:sp>
        <p:nvSpPr>
          <p:cNvPr id="5" name="Arrow: Down 21">
            <a:extLst>
              <a:ext uri="{FF2B5EF4-FFF2-40B4-BE49-F238E27FC236}">
                <a16:creationId xmlns:a16="http://schemas.microsoft.com/office/drawing/2014/main" id="{460C7E87-6AC8-5709-509B-081EB49A3B5D}"/>
              </a:ext>
            </a:extLst>
          </p:cNvPr>
          <p:cNvSpPr/>
          <p:nvPr/>
        </p:nvSpPr>
        <p:spPr>
          <a:xfrm>
            <a:off x="4377921" y="1598724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945DCA5-410E-2121-A627-BAB41EC8FDD8}"/>
              </a:ext>
            </a:extLst>
          </p:cNvPr>
          <p:cNvSpPr/>
          <p:nvPr/>
        </p:nvSpPr>
        <p:spPr>
          <a:xfrm>
            <a:off x="3508191" y="1863285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Cleaning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AB5C84D-78B7-CA10-78EC-99D6A3284894}"/>
              </a:ext>
            </a:extLst>
          </p:cNvPr>
          <p:cNvSpPr/>
          <p:nvPr/>
        </p:nvSpPr>
        <p:spPr>
          <a:xfrm>
            <a:off x="3508191" y="2497178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Tokenization</a:t>
            </a:r>
          </a:p>
        </p:txBody>
      </p:sp>
      <p:sp>
        <p:nvSpPr>
          <p:cNvPr id="16" name="Arrow: Down 21">
            <a:extLst>
              <a:ext uri="{FF2B5EF4-FFF2-40B4-BE49-F238E27FC236}">
                <a16:creationId xmlns:a16="http://schemas.microsoft.com/office/drawing/2014/main" id="{A291CE03-E94F-AF3F-981D-502B24E5A2E7}"/>
              </a:ext>
            </a:extLst>
          </p:cNvPr>
          <p:cNvSpPr/>
          <p:nvPr/>
        </p:nvSpPr>
        <p:spPr>
          <a:xfrm>
            <a:off x="4378486" y="2232617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84507400-3C4B-D755-CC7E-57432C87A052}"/>
              </a:ext>
            </a:extLst>
          </p:cNvPr>
          <p:cNvSpPr/>
          <p:nvPr/>
        </p:nvSpPr>
        <p:spPr>
          <a:xfrm>
            <a:off x="3508191" y="3108949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Encoding</a:t>
            </a:r>
          </a:p>
        </p:txBody>
      </p:sp>
      <p:sp>
        <p:nvSpPr>
          <p:cNvPr id="19" name="Arrow: Down 21">
            <a:extLst>
              <a:ext uri="{FF2B5EF4-FFF2-40B4-BE49-F238E27FC236}">
                <a16:creationId xmlns:a16="http://schemas.microsoft.com/office/drawing/2014/main" id="{151C5CC6-1EFE-8343-D02F-3D62784B2B65}"/>
              </a:ext>
            </a:extLst>
          </p:cNvPr>
          <p:cNvSpPr/>
          <p:nvPr/>
        </p:nvSpPr>
        <p:spPr>
          <a:xfrm>
            <a:off x="4377921" y="2866510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9DA8F8BA-78A4-1AB5-2227-327053CF4D38}"/>
              </a:ext>
            </a:extLst>
          </p:cNvPr>
          <p:cNvSpPr/>
          <p:nvPr/>
        </p:nvSpPr>
        <p:spPr>
          <a:xfrm>
            <a:off x="3508191" y="3740642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Label Mapping</a:t>
            </a:r>
          </a:p>
        </p:txBody>
      </p:sp>
      <p:sp>
        <p:nvSpPr>
          <p:cNvPr id="30" name="Arrow: Down 21">
            <a:extLst>
              <a:ext uri="{FF2B5EF4-FFF2-40B4-BE49-F238E27FC236}">
                <a16:creationId xmlns:a16="http://schemas.microsoft.com/office/drawing/2014/main" id="{FC61850E-269C-B84D-7421-3D774073B654}"/>
              </a:ext>
            </a:extLst>
          </p:cNvPr>
          <p:cNvSpPr/>
          <p:nvPr/>
        </p:nvSpPr>
        <p:spPr>
          <a:xfrm>
            <a:off x="4360139" y="3498132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Arrow: Down 21">
            <a:extLst>
              <a:ext uri="{FF2B5EF4-FFF2-40B4-BE49-F238E27FC236}">
                <a16:creationId xmlns:a16="http://schemas.microsoft.com/office/drawing/2014/main" id="{DB4B9007-90C8-5359-77E3-955BCC33207F}"/>
              </a:ext>
            </a:extLst>
          </p:cNvPr>
          <p:cNvSpPr/>
          <p:nvPr/>
        </p:nvSpPr>
        <p:spPr>
          <a:xfrm>
            <a:off x="4377921" y="4124949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A5947028-F4C7-3F74-2340-A17241980F44}"/>
              </a:ext>
            </a:extLst>
          </p:cNvPr>
          <p:cNvSpPr/>
          <p:nvPr/>
        </p:nvSpPr>
        <p:spPr>
          <a:xfrm>
            <a:off x="3508191" y="4354612"/>
            <a:ext cx="1872074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Text Model </a:t>
            </a:r>
          </a:p>
        </p:txBody>
      </p:sp>
    </p:spTree>
    <p:extLst>
      <p:ext uri="{BB962C8B-B14F-4D97-AF65-F5344CB8AC3E}">
        <p14:creationId xmlns:p14="http://schemas.microsoft.com/office/powerpoint/2010/main" val="3606116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F3A5238-76D7-024F-ED7A-EB5EE069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B8070E85-9280-44B5-6E42-8FB56A4392F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228AFC7A-70FA-62AF-C818-4DDCC7C57D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108618" y="1037081"/>
            <a:ext cx="7409454" cy="322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Preprocessing for Face Module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Image Collection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Used the </a:t>
            </a:r>
            <a:r>
              <a:rPr lang="en-US" b="1" dirty="0">
                <a:solidFill>
                  <a:schemeClr val="tx1"/>
                </a:solidFill>
              </a:rPr>
              <a:t>FER2013 dataset</a:t>
            </a:r>
            <a:r>
              <a:rPr lang="en-US" dirty="0">
                <a:solidFill>
                  <a:schemeClr val="tx1"/>
                </a:solidFill>
              </a:rPr>
              <a:t> with </a:t>
            </a:r>
            <a:r>
              <a:rPr lang="en-US" b="1" dirty="0">
                <a:solidFill>
                  <a:schemeClr val="tx1"/>
                </a:solidFill>
              </a:rPr>
              <a:t>35,887 face images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All images are already in </a:t>
            </a:r>
            <a:r>
              <a:rPr lang="en-US" b="1" dirty="0">
                <a:solidFill>
                  <a:schemeClr val="tx1"/>
                </a:solidFill>
              </a:rPr>
              <a:t>grayscale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48×48 pixels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Resizing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Each image is resized to </a:t>
            </a:r>
            <a:r>
              <a:rPr lang="en-US" b="1" dirty="0">
                <a:solidFill>
                  <a:schemeClr val="tx1"/>
                </a:solidFill>
              </a:rPr>
              <a:t>48×48 pixels</a:t>
            </a:r>
            <a:r>
              <a:rPr lang="en-US" dirty="0">
                <a:solidFill>
                  <a:schemeClr val="tx1"/>
                </a:solidFill>
              </a:rPr>
              <a:t> (fixed size).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This keeps the input consistent for the CNN model.</a:t>
            </a: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Reshaping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Each image is reshaped into </a:t>
            </a:r>
            <a:r>
              <a:rPr lang="en-US" b="1" dirty="0">
                <a:solidFill>
                  <a:schemeClr val="tx1"/>
                </a:solidFill>
              </a:rPr>
              <a:t>(48, 48, 1)</a:t>
            </a:r>
            <a:r>
              <a:rPr lang="en-US" dirty="0">
                <a:solidFill>
                  <a:schemeClr val="tx1"/>
                </a:solidFill>
              </a:rPr>
              <a:t> → height, width, and 1 channel (grayscale).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Required by CNN layers to understand the input shape.</a:t>
            </a:r>
          </a:p>
          <a:p>
            <a:pPr marL="114300" lvl="0" indent="0">
              <a:buNone/>
            </a:pPr>
            <a:endParaRPr lang="en-US" sz="13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6A747A6D-A0AD-0DBA-4379-5AA66952AA8E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EDADA258-D1AB-ED0D-FDC4-401EB5131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738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225637C-8321-133C-90DA-731061FC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71F63B75-010F-D1B7-C309-A263EB26E3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89854" y="39123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EF27692B-A235-2840-0410-112F4BBA4DF4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D18E75F3-F1C6-D840-EBCC-1C70C7613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2DA939-4798-9ED4-567B-3510971F83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02514" y="1152935"/>
            <a:ext cx="7106650" cy="295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Label Mapping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Original dataset had </a:t>
            </a:r>
            <a:r>
              <a:rPr lang="en-US" b="1" dirty="0">
                <a:solidFill>
                  <a:schemeClr val="tx1"/>
                </a:solidFill>
              </a:rPr>
              <a:t>7 emotions</a:t>
            </a:r>
            <a:r>
              <a:rPr lang="en-US" dirty="0">
                <a:solidFill>
                  <a:schemeClr val="tx1"/>
                </a:solidFill>
              </a:rPr>
              <a:t>: Angry, Disgust, Fear, Happy, Sad, Surprise, Neutral.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Mapped into </a:t>
            </a:r>
            <a:r>
              <a:rPr lang="en-US" b="1" dirty="0">
                <a:solidFill>
                  <a:schemeClr val="tx1"/>
                </a:solidFill>
              </a:rPr>
              <a:t>4 categories for our project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1454150" lvl="2" indent="-4000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Sad → </a:t>
            </a:r>
            <a:r>
              <a:rPr lang="en-US" b="1" dirty="0">
                <a:solidFill>
                  <a:schemeClr val="tx1"/>
                </a:solidFill>
              </a:rPr>
              <a:t>Depression</a:t>
            </a:r>
            <a:endParaRPr lang="en-US" dirty="0">
              <a:solidFill>
                <a:schemeClr val="tx1"/>
              </a:solidFill>
            </a:endParaRPr>
          </a:p>
          <a:p>
            <a:pPr marL="1454150" lvl="2" indent="-4000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Fear + Surprise → </a:t>
            </a:r>
            <a:r>
              <a:rPr lang="en-US" b="1" dirty="0">
                <a:solidFill>
                  <a:schemeClr val="tx1"/>
                </a:solidFill>
              </a:rPr>
              <a:t>Anxiety</a:t>
            </a:r>
            <a:endParaRPr lang="en-US" dirty="0">
              <a:solidFill>
                <a:schemeClr val="tx1"/>
              </a:solidFill>
            </a:endParaRPr>
          </a:p>
          <a:p>
            <a:pPr marL="1454150" lvl="2" indent="-4000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Angry + Disgust → </a:t>
            </a:r>
            <a:r>
              <a:rPr lang="en-US" b="1" dirty="0">
                <a:solidFill>
                  <a:schemeClr val="tx1"/>
                </a:solidFill>
              </a:rPr>
              <a:t>Frustration</a:t>
            </a:r>
            <a:endParaRPr lang="en-US" dirty="0">
              <a:solidFill>
                <a:schemeClr val="tx1"/>
              </a:solidFill>
            </a:endParaRPr>
          </a:p>
          <a:p>
            <a:pPr marL="1454150" lvl="2" indent="-400050">
              <a:buFont typeface="+mj-lt"/>
              <a:buAutoNum type="romanLcPeriod"/>
            </a:pPr>
            <a:r>
              <a:rPr lang="en-US" dirty="0">
                <a:solidFill>
                  <a:schemeClr val="tx1"/>
                </a:solidFill>
              </a:rPr>
              <a:t>Neutral + Happy → </a:t>
            </a:r>
            <a:r>
              <a:rPr lang="en-US" b="1" dirty="0">
                <a:solidFill>
                  <a:schemeClr val="tx1"/>
                </a:solidFill>
              </a:rPr>
              <a:t>Calmness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b="1" dirty="0">
                <a:solidFill>
                  <a:schemeClr val="tx1"/>
                </a:solidFill>
              </a:rPr>
              <a:t>Encoding Labels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Converted labels into </a:t>
            </a:r>
            <a:r>
              <a:rPr lang="en-US" b="1" dirty="0">
                <a:solidFill>
                  <a:schemeClr val="tx1"/>
                </a:solidFill>
              </a:rPr>
              <a:t>one-hot vectors</a:t>
            </a:r>
            <a:r>
              <a:rPr lang="en-US" dirty="0">
                <a:solidFill>
                  <a:schemeClr val="tx1"/>
                </a:solidFill>
              </a:rPr>
              <a:t> (e.g., [0,1,0,0] = Anxiety).</a:t>
            </a: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This format is required for training the classifier.</a:t>
            </a:r>
          </a:p>
        </p:txBody>
      </p:sp>
    </p:spTree>
    <p:extLst>
      <p:ext uri="{BB962C8B-B14F-4D97-AF65-F5344CB8AC3E}">
        <p14:creationId xmlns:p14="http://schemas.microsoft.com/office/powerpoint/2010/main" val="103741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2F12266-F58C-B049-5560-2BF11025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0C1D7CA0-3899-9EA1-FF3D-BE83B88D5A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30626" y="102570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8FE33540-5F82-92D5-DD12-D8930EA5E746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122637E5-D54E-511F-1CDD-BA709CD0D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B65169-1C92-A481-1168-83D5F0075B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018650" y="864270"/>
            <a:ext cx="710665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Original Kaggle split: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Training: </a:t>
            </a:r>
            <a:r>
              <a:rPr lang="en-US" b="1" dirty="0">
                <a:solidFill>
                  <a:schemeClr val="tx1"/>
                </a:solidFill>
              </a:rPr>
              <a:t>28,709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Public Test: </a:t>
            </a:r>
            <a:r>
              <a:rPr lang="en-US" b="1" dirty="0">
                <a:solidFill>
                  <a:schemeClr val="tx1"/>
                </a:solidFill>
              </a:rPr>
              <a:t>3,589</a:t>
            </a:r>
            <a:endParaRPr lang="en-US" dirty="0">
              <a:solidFill>
                <a:schemeClr val="tx1"/>
              </a:solidFill>
            </a:endParaRPr>
          </a:p>
          <a:p>
            <a:pPr marL="939800" lvl="1" indent="-342900">
              <a:buFont typeface="+mj-lt"/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Private Test: </a:t>
            </a:r>
            <a:r>
              <a:rPr lang="en-US" b="1" dirty="0">
                <a:solidFill>
                  <a:schemeClr val="tx1"/>
                </a:solidFill>
              </a:rPr>
              <a:t>3,589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C5B4B7C-A23E-D0DE-1E0B-292BED80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996173"/>
              </p:ext>
            </p:extLst>
          </p:nvPr>
        </p:nvGraphicFramePr>
        <p:xfrm>
          <a:off x="911200" y="2168373"/>
          <a:ext cx="7214100" cy="24688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803525">
                  <a:extLst>
                    <a:ext uri="{9D8B030D-6E8A-4147-A177-3AD203B41FA5}">
                      <a16:colId xmlns:a16="http://schemas.microsoft.com/office/drawing/2014/main" val="1129600601"/>
                    </a:ext>
                  </a:extLst>
                </a:gridCol>
                <a:gridCol w="1803525">
                  <a:extLst>
                    <a:ext uri="{9D8B030D-6E8A-4147-A177-3AD203B41FA5}">
                      <a16:colId xmlns:a16="http://schemas.microsoft.com/office/drawing/2014/main" val="89541627"/>
                    </a:ext>
                  </a:extLst>
                </a:gridCol>
                <a:gridCol w="1803525">
                  <a:extLst>
                    <a:ext uri="{9D8B030D-6E8A-4147-A177-3AD203B41FA5}">
                      <a16:colId xmlns:a16="http://schemas.microsoft.com/office/drawing/2014/main" val="1805446738"/>
                    </a:ext>
                  </a:extLst>
                </a:gridCol>
                <a:gridCol w="1803525">
                  <a:extLst>
                    <a:ext uri="{9D8B030D-6E8A-4147-A177-3AD203B41FA5}">
                      <a16:colId xmlns:a16="http://schemas.microsoft.com/office/drawing/2014/main" val="308983959"/>
                    </a:ext>
                  </a:extLst>
                </a:gridCol>
              </a:tblGrid>
              <a:tr h="29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Emotion (Mapped)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Training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Testing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319413"/>
                  </a:ext>
                </a:extLst>
              </a:tr>
              <a:tr h="29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Depression (Sad)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~4,800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~6,000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080032"/>
                  </a:ext>
                </a:extLst>
              </a:tr>
              <a:tr h="506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Anxiety (Fear + Surprise)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~7,600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~9,500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16061"/>
                  </a:ext>
                </a:extLst>
              </a:tr>
              <a:tr h="506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Frustration (Angry + Disgust)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~5,800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~7,200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908469"/>
                  </a:ext>
                </a:extLst>
              </a:tr>
              <a:tr h="506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Calmness (Neutral + Happy)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~10,500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~2,700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~13,200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28565"/>
                  </a:ext>
                </a:extLst>
              </a:tr>
              <a:tr h="297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28,709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7,100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35,887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724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277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9C0CE07-FDCA-E070-1418-BF2B2F1F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621F902D-8462-F9D7-7904-356E9E223B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5360" y="98569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Preprocessing</a:t>
            </a:r>
            <a:endParaRPr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55D44ABE-53A0-D3DC-5613-6E82991A9447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26AD563E-D87C-A4E1-5A15-AF98E22C7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arallelogram 1">
            <a:extLst>
              <a:ext uri="{FF2B5EF4-FFF2-40B4-BE49-F238E27FC236}">
                <a16:creationId xmlns:a16="http://schemas.microsoft.com/office/drawing/2014/main" id="{9B0110EF-AB6C-4D35-2CB5-45585C9F3449}"/>
              </a:ext>
            </a:extLst>
          </p:cNvPr>
          <p:cNvSpPr/>
          <p:nvPr/>
        </p:nvSpPr>
        <p:spPr>
          <a:xfrm>
            <a:off x="2721689" y="1225139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Live Face Detection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3654E-12F6-AAAD-2CAE-81F07A033132}"/>
              </a:ext>
            </a:extLst>
          </p:cNvPr>
          <p:cNvSpPr txBox="1"/>
          <p:nvPr/>
        </p:nvSpPr>
        <p:spPr>
          <a:xfrm>
            <a:off x="2090645" y="753298"/>
            <a:ext cx="5092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Preprocessing work flow for Face Module</a:t>
            </a:r>
          </a:p>
        </p:txBody>
      </p:sp>
      <p:sp>
        <p:nvSpPr>
          <p:cNvPr id="5" name="Arrow: Down 21">
            <a:extLst>
              <a:ext uri="{FF2B5EF4-FFF2-40B4-BE49-F238E27FC236}">
                <a16:creationId xmlns:a16="http://schemas.microsoft.com/office/drawing/2014/main" id="{59E5C7D5-08DA-DAF0-0C54-0CD0609524E7}"/>
              </a:ext>
            </a:extLst>
          </p:cNvPr>
          <p:cNvSpPr/>
          <p:nvPr/>
        </p:nvSpPr>
        <p:spPr>
          <a:xfrm>
            <a:off x="4377921" y="1598724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87E2C07-FE27-4C9E-59F1-B76A12B3DFAF}"/>
              </a:ext>
            </a:extLst>
          </p:cNvPr>
          <p:cNvSpPr/>
          <p:nvPr/>
        </p:nvSpPr>
        <p:spPr>
          <a:xfrm>
            <a:off x="2721688" y="2472397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Reshaping (48 x 48 x 1 )</a:t>
            </a: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0A64E9A-2254-0798-68F2-096954FE4FAC}"/>
              </a:ext>
            </a:extLst>
          </p:cNvPr>
          <p:cNvSpPr/>
          <p:nvPr/>
        </p:nvSpPr>
        <p:spPr>
          <a:xfrm>
            <a:off x="2721688" y="3089010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Label Mapping (7 – 4 classes )</a:t>
            </a:r>
          </a:p>
        </p:txBody>
      </p:sp>
      <p:sp>
        <p:nvSpPr>
          <p:cNvPr id="16" name="Arrow: Down 21">
            <a:extLst>
              <a:ext uri="{FF2B5EF4-FFF2-40B4-BE49-F238E27FC236}">
                <a16:creationId xmlns:a16="http://schemas.microsoft.com/office/drawing/2014/main" id="{9C4E28EF-A967-5B05-924F-346C5D6DB572}"/>
              </a:ext>
            </a:extLst>
          </p:cNvPr>
          <p:cNvSpPr/>
          <p:nvPr/>
        </p:nvSpPr>
        <p:spPr>
          <a:xfrm>
            <a:off x="4378486" y="2841729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Parallelogram 17">
            <a:extLst>
              <a:ext uri="{FF2B5EF4-FFF2-40B4-BE49-F238E27FC236}">
                <a16:creationId xmlns:a16="http://schemas.microsoft.com/office/drawing/2014/main" id="{A64ED050-98BC-DC87-F641-CBFB33E594EC}"/>
              </a:ext>
            </a:extLst>
          </p:cNvPr>
          <p:cNvSpPr/>
          <p:nvPr/>
        </p:nvSpPr>
        <p:spPr>
          <a:xfrm>
            <a:off x="2721688" y="3698816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One-Hot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Encoding</a:t>
            </a:r>
          </a:p>
        </p:txBody>
      </p:sp>
      <p:sp>
        <p:nvSpPr>
          <p:cNvPr id="19" name="Arrow: Down 21">
            <a:extLst>
              <a:ext uri="{FF2B5EF4-FFF2-40B4-BE49-F238E27FC236}">
                <a16:creationId xmlns:a16="http://schemas.microsoft.com/office/drawing/2014/main" id="{1CD79643-20DC-DD79-D594-48A1C15FDC63}"/>
              </a:ext>
            </a:extLst>
          </p:cNvPr>
          <p:cNvSpPr/>
          <p:nvPr/>
        </p:nvSpPr>
        <p:spPr>
          <a:xfrm>
            <a:off x="4377921" y="3475622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9" name="Parallelogram 28">
            <a:extLst>
              <a:ext uri="{FF2B5EF4-FFF2-40B4-BE49-F238E27FC236}">
                <a16:creationId xmlns:a16="http://schemas.microsoft.com/office/drawing/2014/main" id="{D7947DB2-52E7-2CC8-EE3E-EF125849F6E6}"/>
              </a:ext>
            </a:extLst>
          </p:cNvPr>
          <p:cNvSpPr/>
          <p:nvPr/>
        </p:nvSpPr>
        <p:spPr>
          <a:xfrm>
            <a:off x="2721688" y="1848768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</a:rPr>
              <a:t>Normalization (0–1 scale)</a:t>
            </a:r>
            <a:endParaRPr lang="en-IN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" name="Arrow: Down 21">
            <a:extLst>
              <a:ext uri="{FF2B5EF4-FFF2-40B4-BE49-F238E27FC236}">
                <a16:creationId xmlns:a16="http://schemas.microsoft.com/office/drawing/2014/main" id="{404517C6-DB21-1B62-9040-EF5A74AD86E9}"/>
              </a:ext>
            </a:extLst>
          </p:cNvPr>
          <p:cNvSpPr/>
          <p:nvPr/>
        </p:nvSpPr>
        <p:spPr>
          <a:xfrm>
            <a:off x="4360139" y="4107244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551A4AD8-A04C-DB8A-48BB-50F81BB8BA77}"/>
              </a:ext>
            </a:extLst>
          </p:cNvPr>
          <p:cNvSpPr/>
          <p:nvPr/>
        </p:nvSpPr>
        <p:spPr>
          <a:xfrm>
            <a:off x="2721688" y="4366877"/>
            <a:ext cx="3507662" cy="369332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tx1"/>
                </a:solidFill>
                <a:latin typeface="Arial" panose="020B0604020202020204" pitchFamily="34" charset="0"/>
              </a:rPr>
              <a:t>Face CNN Model</a:t>
            </a:r>
          </a:p>
        </p:txBody>
      </p:sp>
      <p:sp>
        <p:nvSpPr>
          <p:cNvPr id="3" name="Arrow: Down 21">
            <a:extLst>
              <a:ext uri="{FF2B5EF4-FFF2-40B4-BE49-F238E27FC236}">
                <a16:creationId xmlns:a16="http://schemas.microsoft.com/office/drawing/2014/main" id="{D490696B-B6F6-6D82-E60E-EECB3CF6DB4D}"/>
              </a:ext>
            </a:extLst>
          </p:cNvPr>
          <p:cNvSpPr/>
          <p:nvPr/>
        </p:nvSpPr>
        <p:spPr>
          <a:xfrm>
            <a:off x="4387488" y="2244475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441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0184EDEC-EF2D-1D5E-8B30-188F21B4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>
            <a:extLst>
              <a:ext uri="{FF2B5EF4-FFF2-40B4-BE49-F238E27FC236}">
                <a16:creationId xmlns:a16="http://schemas.microsoft.com/office/drawing/2014/main" id="{51F4FF0F-4FA3-C1FB-0629-7960CF530D82}"/>
              </a:ext>
            </a:extLst>
          </p:cNvPr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>
            <a:extLst>
              <a:ext uri="{FF2B5EF4-FFF2-40B4-BE49-F238E27FC236}">
                <a16:creationId xmlns:a16="http://schemas.microsoft.com/office/drawing/2014/main" id="{14CDEACB-9EAC-2D43-4D53-56C6769C4E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MODULES DESCRIPTION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>
            <a:extLst>
              <a:ext uri="{FF2B5EF4-FFF2-40B4-BE49-F238E27FC236}">
                <a16:creationId xmlns:a16="http://schemas.microsoft.com/office/drawing/2014/main" id="{8D50EAC2-4B2F-AF95-74DE-BB9FD7512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7395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3688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Modules</a:t>
            </a:r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00" b="1" dirty="0">
                <a:solidFill>
                  <a:schemeClr val="tx1"/>
                </a:solidFill>
                <a:latin typeface="+mn-lt"/>
                <a:ea typeface="Microsoft Sans Serif" panose="020B0604020202020204" pitchFamily="34" charset="0"/>
                <a:cs typeface="Microsoft Sans Serif" panose="020B0604020202020204" pitchFamily="34" charset="0"/>
                <a:sym typeface="Montserrat"/>
              </a:rPr>
              <a:t>Description</a:t>
            </a:r>
            <a:endParaRPr sz="3100" b="1" dirty="0">
              <a:solidFill>
                <a:schemeClr val="tx1"/>
              </a:solidFill>
              <a:latin typeface="+mn-lt"/>
              <a:ea typeface="Microsoft Sans Serif" panose="020B0604020202020204" pitchFamily="34" charset="0"/>
              <a:cs typeface="Microsoft Sans Serif" panose="020B0604020202020204" pitchFamily="34" charset="0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990575" y="971625"/>
            <a:ext cx="7162800" cy="706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1: Emotion Detection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16;p19"/>
          <p:cNvSpPr txBox="1">
            <a:spLocks/>
          </p:cNvSpPr>
          <p:nvPr/>
        </p:nvSpPr>
        <p:spPr>
          <a:xfrm>
            <a:off x="1303020" y="1382325"/>
            <a:ext cx="7162800" cy="353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55000"/>
              </a:lnSpc>
              <a:buFont typeface="Arial"/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Objective:</a:t>
            </a:r>
            <a:br>
              <a:rPr lang="en-US" sz="1100" dirty="0"/>
            </a:br>
            <a:r>
              <a:rPr lang="en-US" sz="1100" dirty="0"/>
              <a:t>To analyze user inputs from multiple sources to accurately detect emotional states such as </a:t>
            </a:r>
            <a:r>
              <a:rPr lang="en-US" sz="1100" b="1" dirty="0"/>
              <a:t>depression, anxiety</a:t>
            </a:r>
            <a:r>
              <a:rPr lang="en-US" sz="1100" dirty="0"/>
              <a:t>, or </a:t>
            </a:r>
            <a:r>
              <a:rPr lang="en-US" sz="1100" b="1" dirty="0"/>
              <a:t>neutral.</a:t>
            </a:r>
          </a:p>
          <a:p>
            <a:pPr marL="0" indent="0">
              <a:lnSpc>
                <a:spcPct val="155000"/>
              </a:lnSpc>
              <a:buFont typeface="Arial"/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Inputs Captured: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Webcam</a:t>
            </a:r>
            <a:r>
              <a:rPr lang="en-US" sz="1100" dirty="0"/>
              <a:t> → Facial Expression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Microphone</a:t>
            </a:r>
            <a:r>
              <a:rPr lang="en-US" sz="1100" dirty="0"/>
              <a:t> → Voice Tone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Text Box</a:t>
            </a:r>
            <a:r>
              <a:rPr lang="en-US" sz="1100" dirty="0"/>
              <a:t> → Written Message</a:t>
            </a:r>
            <a:endParaRPr lang="en-US" sz="11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5000"/>
              </a:lnSpc>
              <a:buFont typeface="Arial"/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Processing: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All three inputs are analyzed using a </a:t>
            </a:r>
            <a:r>
              <a:rPr lang="en-US" sz="1100" b="1" dirty="0"/>
              <a:t>Multimodal Machine Learning</a:t>
            </a:r>
            <a:r>
              <a:rPr lang="en-US" sz="1100" dirty="0"/>
              <a:t> approach.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Models such as CNN (for face), SVM/RF (for voice), and NLP-based classifiers (for text) are used.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A combined prediction is made to classify the emotional state.</a:t>
            </a:r>
          </a:p>
          <a:p>
            <a:pPr marL="0" indent="0">
              <a:lnSpc>
                <a:spcPct val="155000"/>
              </a:lnSpc>
              <a:buFont typeface="Arial"/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Output:</a:t>
            </a:r>
          </a:p>
          <a:p>
            <a:pPr marL="114300" indent="0">
              <a:buFont typeface="Arial"/>
              <a:buNone/>
            </a:pPr>
            <a:r>
              <a:rPr lang="en-US" sz="1100" dirty="0"/>
              <a:t>  Detected emotion (e.g., Depressed, Anxious, Neutral, Angry, etc.) is passed to the next module.</a:t>
            </a:r>
          </a:p>
        </p:txBody>
      </p:sp>
    </p:spTree>
    <p:extLst>
      <p:ext uri="{BB962C8B-B14F-4D97-AF65-F5344CB8AC3E}">
        <p14:creationId xmlns:p14="http://schemas.microsoft.com/office/powerpoint/2010/main" val="851214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36" y="87029"/>
            <a:ext cx="809315" cy="2880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892" y="84950"/>
            <a:ext cx="1280271" cy="41608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3CC67C5-94BE-4F78-35A7-DC2F4BD2DFC7}"/>
              </a:ext>
            </a:extLst>
          </p:cNvPr>
          <p:cNvSpPr/>
          <p:nvPr/>
        </p:nvSpPr>
        <p:spPr>
          <a:xfrm>
            <a:off x="4066063" y="577324"/>
            <a:ext cx="951062" cy="3924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475288" y="971850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8405" y="614059"/>
            <a:ext cx="3264653" cy="71558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sz="2100" b="1" dirty="0"/>
              <a:t>Module 1: </a:t>
            </a:r>
            <a:br>
              <a:rPr lang="en-US" sz="2100" b="1" dirty="0"/>
            </a:br>
            <a:r>
              <a:rPr lang="en-US" sz="2100" b="1" dirty="0"/>
              <a:t>Emotion Detection</a:t>
            </a:r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3813289" y="1236406"/>
            <a:ext cx="1554818" cy="738851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chemeClr val="tx1"/>
                </a:solidFill>
              </a:rPr>
              <a:t>Capture User Input</a:t>
            </a:r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5368104" y="1228852"/>
            <a:ext cx="2950948" cy="738851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>
              <a:buFont typeface="+mj-lt"/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Webcam → Facial expression</a:t>
            </a:r>
          </a:p>
          <a:p>
            <a:pPr marL="257175" indent="-257175">
              <a:buFont typeface="+mj-lt"/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Text Box → Written message</a:t>
            </a:r>
          </a:p>
        </p:txBody>
      </p:sp>
      <p:sp>
        <p:nvSpPr>
          <p:cNvPr id="18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524391" y="1982898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3830493" y="2233998"/>
            <a:ext cx="1554818" cy="702438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chemeClr val="tx1"/>
                </a:solidFill>
              </a:rPr>
              <a:t> Emotion Detection</a:t>
            </a:r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20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541595" y="2936437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5368104" y="2233998"/>
            <a:ext cx="3171601" cy="702438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/>
                </a:solidFill>
              </a:rPr>
              <a:t>1) Analyze all 2 inputs </a:t>
            </a:r>
          </a:p>
          <a:p>
            <a:r>
              <a:rPr lang="en-US" sz="1200" dirty="0">
                <a:solidFill>
                  <a:schemeClr val="tx1"/>
                </a:solidFill>
              </a:rPr>
              <a:t>2) Use ML/NLP model to predict emotion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541595" y="3924436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4339621" y="4139124"/>
            <a:ext cx="547457" cy="265210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chemeClr val="tx1"/>
                </a:solidFill>
              </a:rPr>
              <a:t>yes</a:t>
            </a:r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E2C1198D-7F8F-62FF-0E2D-9B69EDC0926B}"/>
              </a:ext>
            </a:extLst>
          </p:cNvPr>
          <p:cNvSpPr/>
          <p:nvPr/>
        </p:nvSpPr>
        <p:spPr>
          <a:xfrm>
            <a:off x="3700485" y="3177575"/>
            <a:ext cx="1814833" cy="76777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Emotion Detected?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798D3F-93DC-972C-2CC3-A7FAE6D7988E}"/>
              </a:ext>
            </a:extLst>
          </p:cNvPr>
          <p:cNvCxnSpPr>
            <a:endCxn id="24" idx="1"/>
          </p:cNvCxnSpPr>
          <p:nvPr/>
        </p:nvCxnSpPr>
        <p:spPr>
          <a:xfrm flipV="1">
            <a:off x="2289271" y="3561461"/>
            <a:ext cx="1411214" cy="15389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8D3F-93DC-972C-2CC3-A7FAE6D7988E}"/>
              </a:ext>
            </a:extLst>
          </p:cNvPr>
          <p:cNvCxnSpPr>
            <a:stCxn id="27" idx="3"/>
          </p:cNvCxnSpPr>
          <p:nvPr/>
        </p:nvCxnSpPr>
        <p:spPr>
          <a:xfrm>
            <a:off x="2289271" y="2701418"/>
            <a:ext cx="2" cy="875432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2015542" y="2436209"/>
            <a:ext cx="547457" cy="265210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chemeClr val="tx1"/>
                </a:solidFill>
              </a:rPr>
              <a:t>No</a:t>
            </a:r>
            <a:endParaRPr lang="en-IN" sz="1500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798D3F-93DC-972C-2CC3-A7FAE6D7988E}"/>
              </a:ext>
            </a:extLst>
          </p:cNvPr>
          <p:cNvCxnSpPr/>
          <p:nvPr/>
        </p:nvCxnSpPr>
        <p:spPr>
          <a:xfrm>
            <a:off x="2289271" y="1479234"/>
            <a:ext cx="0" cy="950582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AD1BBC-1FBA-B13E-DA74-B8D7FDB00B2B}"/>
              </a:ext>
            </a:extLst>
          </p:cNvPr>
          <p:cNvCxnSpPr>
            <a:cxnSpLocks/>
          </p:cNvCxnSpPr>
          <p:nvPr/>
        </p:nvCxnSpPr>
        <p:spPr>
          <a:xfrm>
            <a:off x="2289271" y="1479233"/>
            <a:ext cx="1515257" cy="47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623734" y="4357316"/>
            <a:ext cx="1005725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dirty="0"/>
              <a:t>↳ Continue</a:t>
            </a:r>
          </a:p>
        </p:txBody>
      </p:sp>
    </p:spTree>
    <p:extLst>
      <p:ext uri="{BB962C8B-B14F-4D97-AF65-F5344CB8AC3E}">
        <p14:creationId xmlns:p14="http://schemas.microsoft.com/office/powerpoint/2010/main" val="3032507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3688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Modules Description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990575" y="971625"/>
            <a:ext cx="7162800" cy="7064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5000"/>
              </a:lnSpc>
              <a:buNone/>
            </a:pPr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2: AI Response Generation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16;p19"/>
          <p:cNvSpPr txBox="1">
            <a:spLocks/>
          </p:cNvSpPr>
          <p:nvPr/>
        </p:nvSpPr>
        <p:spPr>
          <a:xfrm>
            <a:off x="1303020" y="1382325"/>
            <a:ext cx="7162800" cy="353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55000"/>
              </a:lnSpc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Objective:</a:t>
            </a:r>
            <a:br>
              <a:rPr lang="en-US" sz="1100" dirty="0"/>
            </a:br>
            <a:r>
              <a:rPr lang="en-US" sz="1100" dirty="0"/>
              <a:t>To provide empathetic and meaningful responses based on the detected emotional state using AI techniques.</a:t>
            </a:r>
            <a:endParaRPr lang="en-US" sz="1100" b="1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Strategy Selection: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/>
              <a:t>Based on emotion, appropriate response strategies are selected: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Depressed</a:t>
            </a:r>
            <a:r>
              <a:rPr lang="en-US" sz="1100" dirty="0"/>
              <a:t> → Motivational / Reassuring Tone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Anxious</a:t>
            </a:r>
            <a:r>
              <a:rPr lang="en-US" sz="1100" dirty="0"/>
              <a:t> → Calming / Supportive Tone</a:t>
            </a:r>
          </a:p>
          <a:p>
            <a:pPr marL="342900" indent="-228600">
              <a:buSzPct val="100000"/>
              <a:buFont typeface="+mj-lt"/>
              <a:buAutoNum type="arabicPeriod"/>
            </a:pPr>
            <a:r>
              <a:rPr lang="en-US" sz="1100" b="1" dirty="0"/>
              <a:t>    Neutral</a:t>
            </a:r>
            <a:r>
              <a:rPr lang="en-US" sz="1100" dirty="0"/>
              <a:t> → Friendly / Informative Tone</a:t>
            </a:r>
            <a:endParaRPr lang="en-US" sz="11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5000"/>
              </a:lnSpc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Response Generation: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Use </a:t>
            </a:r>
            <a:r>
              <a:rPr lang="en-US" sz="1100" b="1" dirty="0"/>
              <a:t>Generative AI (LLM like GPT)</a:t>
            </a:r>
            <a:r>
              <a:rPr lang="en-US" sz="1100" dirty="0"/>
              <a:t> to craft contextual replies.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Response is displayed on screen as </a:t>
            </a:r>
            <a:r>
              <a:rPr lang="en-US" sz="1100" dirty="0" err="1"/>
              <a:t>chatbot</a:t>
            </a:r>
            <a:r>
              <a:rPr lang="en-US" sz="1100" dirty="0"/>
              <a:t> message.</a:t>
            </a:r>
          </a:p>
          <a:p>
            <a:pPr marL="0" indent="0">
              <a:lnSpc>
                <a:spcPct val="155000"/>
              </a:lnSpc>
              <a:buNone/>
            </a:pPr>
            <a:r>
              <a:rPr lang="en-US" sz="13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Loop: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User can interact with the </a:t>
            </a:r>
            <a:r>
              <a:rPr lang="en-US" sz="1100" dirty="0" err="1"/>
              <a:t>chatbot</a:t>
            </a:r>
            <a:r>
              <a:rPr lang="en-US" sz="1100" dirty="0"/>
              <a:t> in follow-up questions.</a:t>
            </a:r>
          </a:p>
          <a:p>
            <a:pPr>
              <a:buSzPct val="100000"/>
              <a:buFont typeface="+mj-lt"/>
              <a:buAutoNum type="arabicPeriod"/>
            </a:pPr>
            <a:r>
              <a:rPr lang="en-US" sz="1100" dirty="0"/>
              <a:t>Feedback or further detection can loop back as needed.</a:t>
            </a:r>
          </a:p>
          <a:p>
            <a:pPr marL="0" indent="0">
              <a:lnSpc>
                <a:spcPct val="155000"/>
              </a:lnSpc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77410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36" y="87029"/>
            <a:ext cx="809315" cy="2880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892" y="84950"/>
            <a:ext cx="1280271" cy="41608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3CC67C5-94BE-4F78-35A7-DC2F4BD2DFC7}"/>
              </a:ext>
            </a:extLst>
          </p:cNvPr>
          <p:cNvSpPr/>
          <p:nvPr/>
        </p:nvSpPr>
        <p:spPr>
          <a:xfrm>
            <a:off x="3403881" y="596508"/>
            <a:ext cx="1997981" cy="68464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Input: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Detected Emotion</a:t>
            </a:r>
            <a:endParaRPr lang="en-IN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316876" y="1323232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3540848" y="1559526"/>
            <a:ext cx="1675008" cy="506888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Select Response Strategy</a:t>
            </a:r>
            <a:endParaRPr lang="en-IN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5206187" y="1552566"/>
            <a:ext cx="3101406" cy="506888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Motivational reply for depressed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Calming tone for anxiety</a:t>
            </a:r>
          </a:p>
        </p:txBody>
      </p:sp>
      <p:sp>
        <p:nvSpPr>
          <p:cNvPr id="16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336565" y="2088676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178815" y="2952922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3423416" y="3430255"/>
            <a:ext cx="2339411" cy="265296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Display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 pitchFamily="34" charset="0"/>
              </a:rPr>
              <a:t>Chatbot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Response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368185" y="3215567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6855" y="624860"/>
            <a:ext cx="2846561" cy="103874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sz="2100" b="1" dirty="0"/>
              <a:t>Module 2:</a:t>
            </a:r>
            <a:br>
              <a:rPr lang="en-US" sz="2100" b="1" dirty="0"/>
            </a:br>
            <a:r>
              <a:rPr lang="en-US" sz="2100" b="1" dirty="0"/>
              <a:t>AI Response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80690" y="798239"/>
            <a:ext cx="2068515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dirty="0"/>
              <a:t>↳ From previous module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E2C1198D-7F8F-62FF-0E2D-9B69EDC0926B}"/>
              </a:ext>
            </a:extLst>
          </p:cNvPr>
          <p:cNvSpPr/>
          <p:nvPr/>
        </p:nvSpPr>
        <p:spPr>
          <a:xfrm>
            <a:off x="3237660" y="2303364"/>
            <a:ext cx="2261050" cy="92569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Generate Reply (Using LLM / GenAI)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842214" y="3428326"/>
            <a:ext cx="2547813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dirty="0"/>
              <a:t>↳ Show on user screen as text</a:t>
            </a:r>
          </a:p>
        </p:txBody>
      </p:sp>
      <p:sp>
        <p:nvSpPr>
          <p:cNvPr id="30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368185" y="3695551"/>
            <a:ext cx="132614" cy="21468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88CF3354-4F70-6DB5-124B-FC078AE8D8EB}"/>
              </a:ext>
            </a:extLst>
          </p:cNvPr>
          <p:cNvSpPr/>
          <p:nvPr/>
        </p:nvSpPr>
        <p:spPr>
          <a:xfrm>
            <a:off x="3646303" y="3947237"/>
            <a:ext cx="1645753" cy="271681"/>
          </a:xfrm>
          <a:prstGeom prst="parallelogram">
            <a:avLst>
              <a:gd name="adj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Ask for Follow-up</a:t>
            </a:r>
          </a:p>
        </p:txBody>
      </p:sp>
      <p:sp>
        <p:nvSpPr>
          <p:cNvPr id="36" name="Arrow: Down 21">
            <a:extLst>
              <a:ext uri="{FF2B5EF4-FFF2-40B4-BE49-F238E27FC236}">
                <a16:creationId xmlns:a16="http://schemas.microsoft.com/office/drawing/2014/main" id="{BB669DDB-9F26-BA56-245B-161D1005E691}"/>
              </a:ext>
            </a:extLst>
          </p:cNvPr>
          <p:cNvSpPr/>
          <p:nvPr/>
        </p:nvSpPr>
        <p:spPr>
          <a:xfrm>
            <a:off x="4388144" y="4221200"/>
            <a:ext cx="122692" cy="19781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3CC67C5-94BE-4F78-35A7-DC2F4BD2DFC7}"/>
              </a:ext>
            </a:extLst>
          </p:cNvPr>
          <p:cNvSpPr/>
          <p:nvPr/>
        </p:nvSpPr>
        <p:spPr>
          <a:xfrm>
            <a:off x="3785516" y="4427955"/>
            <a:ext cx="1367323" cy="28476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End / Loop</a:t>
            </a:r>
          </a:p>
        </p:txBody>
      </p:sp>
      <p:sp>
        <p:nvSpPr>
          <p:cNvPr id="23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6340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074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929724" y="378350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69687" y="1102394"/>
            <a:ext cx="6804575" cy="3450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400" b="1" dirty="0">
                <a:latin typeface="+mn-lt"/>
              </a:rPr>
              <a:t>1. Accurate Emotion Detection: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The system will be capable of identifying emotional states like </a:t>
            </a:r>
            <a:r>
              <a:rPr lang="en-US" sz="1200" b="1" dirty="0">
                <a:latin typeface="+mn-lt"/>
              </a:rPr>
              <a:t>depression, anxiety, stress</a:t>
            </a:r>
            <a:r>
              <a:rPr lang="en-US" sz="1200" dirty="0">
                <a:latin typeface="+mn-lt"/>
              </a:rPr>
              <a:t>, or </a:t>
            </a:r>
            <a:r>
              <a:rPr lang="en-US" sz="1200" b="1" dirty="0">
                <a:latin typeface="+mn-lt"/>
              </a:rPr>
              <a:t>neutrality</a:t>
            </a:r>
            <a:r>
              <a:rPr lang="en-US" sz="1200" dirty="0">
                <a:latin typeface="+mn-lt"/>
              </a:rPr>
              <a:t> using </a:t>
            </a:r>
            <a:r>
              <a:rPr lang="en-US" sz="1200" b="1" dirty="0">
                <a:latin typeface="+mn-lt"/>
              </a:rPr>
              <a:t>multimodal input</a:t>
            </a:r>
            <a:r>
              <a:rPr lang="en-US" sz="1200" dirty="0">
                <a:latin typeface="+mn-lt"/>
              </a:rPr>
              <a:t> — facial expressions and written messages.</a:t>
            </a:r>
            <a:br>
              <a:rPr lang="en-US" sz="1200" dirty="0">
                <a:latin typeface="+mn-lt"/>
              </a:rPr>
            </a:br>
            <a:endParaRPr lang="en-US" sz="1200" dirty="0">
              <a:latin typeface="+mn-lt"/>
            </a:endParaRPr>
          </a:p>
          <a:p>
            <a:pPr marL="114300" indent="0">
              <a:buNone/>
            </a:pPr>
            <a:r>
              <a:rPr lang="en-US" sz="1400" b="1" dirty="0">
                <a:latin typeface="+mn-lt"/>
              </a:rPr>
              <a:t>2. AI-Driven Empathetic Response: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The AI </a:t>
            </a:r>
            <a:r>
              <a:rPr lang="en-US" sz="1200" dirty="0" err="1">
                <a:latin typeface="+mn-lt"/>
              </a:rPr>
              <a:t>chatbot</a:t>
            </a:r>
            <a:r>
              <a:rPr lang="en-US" sz="1200" dirty="0">
                <a:latin typeface="+mn-lt"/>
              </a:rPr>
              <a:t> will generate </a:t>
            </a:r>
            <a:r>
              <a:rPr lang="en-US" sz="1200" b="1" dirty="0">
                <a:latin typeface="+mn-lt"/>
              </a:rPr>
              <a:t>emotion-sensitive replies</a:t>
            </a:r>
            <a:r>
              <a:rPr lang="en-US" sz="1200" dirty="0">
                <a:latin typeface="+mn-lt"/>
              </a:rPr>
              <a:t>, tailored to the user's detected state (e.g., motivational responses for depression, calming replies for anxiety).</a:t>
            </a:r>
            <a:br>
              <a:rPr lang="en-US" sz="1200" dirty="0">
                <a:latin typeface="+mn-lt"/>
              </a:rPr>
            </a:br>
            <a:endParaRPr lang="en-US" sz="1400" dirty="0">
              <a:latin typeface="+mn-lt"/>
            </a:endParaRPr>
          </a:p>
          <a:p>
            <a:pPr marL="114300" indent="0">
              <a:buNone/>
            </a:pPr>
            <a:r>
              <a:rPr lang="en-US" sz="1400" b="1" dirty="0">
                <a:latin typeface="+mn-lt"/>
              </a:rPr>
              <a:t>3. Real-Time Interaction: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Users will receive responses and suggestions </a:t>
            </a:r>
            <a:r>
              <a:rPr lang="en-US" sz="1200" b="1" dirty="0">
                <a:latin typeface="+mn-lt"/>
              </a:rPr>
              <a:t>instantly</a:t>
            </a:r>
            <a:r>
              <a:rPr lang="en-US" sz="1200" dirty="0">
                <a:latin typeface="+mn-lt"/>
              </a:rPr>
              <a:t> via a user-friendly interface, improving overall </a:t>
            </a:r>
            <a:r>
              <a:rPr lang="en-US" sz="1200" b="1" dirty="0">
                <a:latin typeface="+mn-lt"/>
              </a:rPr>
              <a:t>emotional support experience</a:t>
            </a:r>
            <a:r>
              <a:rPr lang="en-US" sz="1200" dirty="0">
                <a:latin typeface="+mn-lt"/>
              </a:rPr>
              <a:t>.</a:t>
            </a:r>
            <a:br>
              <a:rPr lang="en-US" sz="1200" dirty="0">
                <a:latin typeface="+mn-lt"/>
              </a:rPr>
            </a:br>
            <a:endParaRPr lang="en-US" sz="1400" dirty="0">
              <a:latin typeface="+mn-lt"/>
            </a:endParaRPr>
          </a:p>
          <a:p>
            <a:pPr marL="114300" indent="0">
              <a:buNone/>
            </a:pPr>
            <a:r>
              <a:rPr lang="en-US" sz="1400" b="1" dirty="0">
                <a:latin typeface="+mn-lt"/>
              </a:rPr>
              <a:t>4. Promotes Mental Health Awareness:</a:t>
            </a:r>
            <a:br>
              <a:rPr lang="en-US" sz="1200" dirty="0">
                <a:latin typeface="+mn-lt"/>
              </a:rPr>
            </a:br>
            <a:r>
              <a:rPr lang="en-US" sz="1200" dirty="0">
                <a:latin typeface="+mn-lt"/>
              </a:rPr>
              <a:t>Encourages the use of </a:t>
            </a:r>
            <a:r>
              <a:rPr lang="en-US" sz="1200" b="1" dirty="0">
                <a:latin typeface="+mn-lt"/>
              </a:rPr>
              <a:t>AI for mental well-being</a:t>
            </a:r>
            <a:r>
              <a:rPr lang="en-US" sz="1200" dirty="0">
                <a:latin typeface="+mn-lt"/>
              </a:rPr>
              <a:t>, showcasing how technology can be used for early emotional intervention.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214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A720903E-C207-3E09-CAE6-D60C187F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141961AF-6796-D309-4603-50E0A780B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2054" y="135768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Actual Outcome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55C520AC-73D4-B5FE-D0C6-A41E7465D26A}"/>
              </a:ext>
            </a:extLst>
          </p:cNvPr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>
            <a:extLst>
              <a:ext uri="{FF2B5EF4-FFF2-40B4-BE49-F238E27FC236}">
                <a16:creationId xmlns:a16="http://schemas.microsoft.com/office/drawing/2014/main" id="{8A2B473B-482B-F5E5-BAFF-03CE8417B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35C24CF1-E5E8-4EFF-9C7E-742F889A9A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85950" y="4276725"/>
            <a:ext cx="6804575" cy="495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+mn-lt"/>
              </a:rPr>
              <a:t>Credit:  </a:t>
            </a:r>
            <a:r>
              <a:rPr lang="en-US" sz="1200" b="1" dirty="0">
                <a:solidFill>
                  <a:schemeClr val="bg1"/>
                </a:solidFill>
              </a:rPr>
              <a:t>Image sourced through Google.</a:t>
            </a:r>
            <a:endParaRPr lang="en-US" sz="12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7D405123-4AFD-9D6F-214F-9B4D522B6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513" y="864270"/>
            <a:ext cx="6718020" cy="377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529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0380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1034499" y="483420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405975" y="1176975"/>
            <a:ext cx="6467400" cy="26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400" dirty="0"/>
              <a:t> By integrating </a:t>
            </a:r>
            <a:r>
              <a:rPr lang="en-US" sz="1400" b="1" dirty="0"/>
              <a:t>facial expression analysis</a:t>
            </a:r>
            <a:r>
              <a:rPr lang="en-US" sz="1400" dirty="0"/>
              <a:t> and </a:t>
            </a:r>
            <a:r>
              <a:rPr lang="en-US" sz="1400" b="1" dirty="0"/>
              <a:t>text sentiment analysis</a:t>
            </a:r>
            <a:r>
              <a:rPr lang="en-US" sz="1400" dirty="0"/>
              <a:t>,</a:t>
            </a:r>
            <a:br>
              <a:rPr lang="en-US" sz="1400" dirty="0"/>
            </a:br>
            <a:r>
              <a:rPr lang="en-US" sz="1400" dirty="0"/>
              <a:t>proposed system provides a </a:t>
            </a:r>
            <a:r>
              <a:rPr lang="en-US" sz="1400" b="1" dirty="0"/>
              <a:t>multi-modal approach</a:t>
            </a:r>
            <a:r>
              <a:rPr lang="en-US" sz="1400" dirty="0"/>
              <a:t> to identifying emotional states such as </a:t>
            </a:r>
            <a:r>
              <a:rPr lang="en-US" sz="1400" b="1" dirty="0"/>
              <a:t>depression or anxiety</a:t>
            </a:r>
            <a:r>
              <a:rPr lang="en-US" sz="1400" dirty="0"/>
              <a:t>.</a:t>
            </a:r>
          </a:p>
          <a:p>
            <a:pPr marL="114300" indent="0">
              <a:buNone/>
            </a:pPr>
            <a:r>
              <a:rPr lang="en-US" sz="1400" dirty="0"/>
              <a:t>Once the emotion is identified, the system responds with </a:t>
            </a:r>
            <a:r>
              <a:rPr lang="en-US" sz="1400" b="1" dirty="0"/>
              <a:t>empathetic AI-generated replies</a:t>
            </a:r>
            <a:r>
              <a:rPr lang="en-US" sz="1400" dirty="0"/>
              <a:t>, ensuring that the user receives </a:t>
            </a:r>
            <a:r>
              <a:rPr lang="en-US" sz="1400" b="1" dirty="0"/>
              <a:t>comforting, motivational, or calming support</a:t>
            </a:r>
            <a:r>
              <a:rPr lang="en-US" sz="1400" dirty="0"/>
              <a:t> — tailored to their mental state.</a:t>
            </a:r>
          </a:p>
          <a:p>
            <a:pPr marL="114300" indent="0">
              <a:buNone/>
            </a:pPr>
            <a:r>
              <a:rPr lang="en-US" sz="1400" dirty="0"/>
              <a:t>The project </a:t>
            </a:r>
            <a:r>
              <a:rPr lang="en-US" sz="1400" b="1" dirty="0"/>
              <a:t>bridges the gap</a:t>
            </a:r>
            <a:r>
              <a:rPr lang="en-US" sz="1400" dirty="0"/>
              <a:t> between traditional </a:t>
            </a:r>
            <a:r>
              <a:rPr lang="en-US" sz="1400" dirty="0" err="1"/>
              <a:t>chatbot</a:t>
            </a:r>
            <a:r>
              <a:rPr lang="en-US" sz="1400" dirty="0"/>
              <a:t> systems and human emotional intelligence, making interaction more </a:t>
            </a:r>
            <a:r>
              <a:rPr lang="en-US" sz="1400" b="1" dirty="0"/>
              <a:t>personalized, sensitive, and impactful</a:t>
            </a:r>
            <a:r>
              <a:rPr lang="en-US" sz="1400" dirty="0"/>
              <a:t>.</a:t>
            </a:r>
          </a:p>
          <a:p>
            <a:pPr marL="114300" indent="0">
              <a:buNone/>
            </a:pPr>
            <a:r>
              <a:rPr lang="en-US" sz="1400" dirty="0"/>
              <a:t>The user-friendly prototype demonstrates the </a:t>
            </a:r>
            <a:r>
              <a:rPr lang="en-US" sz="1400" b="1" dirty="0"/>
              <a:t>potential of AI in early emotional support</a:t>
            </a:r>
            <a:r>
              <a:rPr lang="en-US" sz="1400" dirty="0"/>
              <a:t>, showing how even basic support can </a:t>
            </a:r>
            <a:r>
              <a:rPr lang="en-US" sz="1400" b="1" dirty="0"/>
              <a:t>enhance mental well-being</a:t>
            </a:r>
            <a:r>
              <a:rPr lang="en-US" sz="1400" dirty="0"/>
              <a:t>.</a:t>
            </a: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045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0297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3688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253575" y="1138875"/>
            <a:ext cx="6928400" cy="3061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[1] M. </a:t>
            </a:r>
            <a:r>
              <a:rPr lang="en-US" sz="1300" b="1" dirty="0" err="1"/>
              <a:t>Alhudhaif</a:t>
            </a:r>
            <a:r>
              <a:rPr lang="en-US" sz="1300" dirty="0"/>
              <a:t>, D. </a:t>
            </a:r>
            <a:r>
              <a:rPr lang="en-US" sz="1300" dirty="0" err="1"/>
              <a:t>Alghazzawi</a:t>
            </a:r>
            <a:r>
              <a:rPr lang="en-US" sz="1300" dirty="0"/>
              <a:t> and A. </a:t>
            </a:r>
            <a:r>
              <a:rPr lang="en-US" sz="1300" dirty="0" err="1"/>
              <a:t>Alsulaiman</a:t>
            </a:r>
            <a:r>
              <a:rPr lang="en-US" sz="1300" dirty="0"/>
              <a:t>,“Emotion Detection Using Deep Learning in a Multimodal Context: A Systematic Review,” </a:t>
            </a:r>
            <a:r>
              <a:rPr lang="en-US" sz="1300" i="1" dirty="0"/>
              <a:t>IEEE Access</a:t>
            </a:r>
            <a:r>
              <a:rPr lang="en-US" sz="1300" dirty="0"/>
              <a:t>, vol. 11, pp. 4873–4895, 2023.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10.1109/ACCESS.2023.3242326</a:t>
            </a:r>
            <a:endParaRPr lang="en-US" sz="1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[2] S. </a:t>
            </a:r>
            <a:r>
              <a:rPr lang="en-US" sz="1300" b="1" dirty="0" err="1"/>
              <a:t>Garg</a:t>
            </a:r>
            <a:r>
              <a:rPr lang="en-US" sz="1300" dirty="0"/>
              <a:t>, A. K. Singh, and S. K. </a:t>
            </a:r>
            <a:r>
              <a:rPr lang="en-US" sz="1300" dirty="0" err="1"/>
              <a:t>Dwivedi</a:t>
            </a:r>
            <a:r>
              <a:rPr lang="en-US" sz="1300" dirty="0"/>
              <a:t>, “Facial Expression and Voice Tone Based Emotion Detection Using Convolutional and Recurrent Neural Networks,” </a:t>
            </a:r>
            <a:r>
              <a:rPr lang="en-US" sz="1300" i="1" dirty="0"/>
              <a:t>2022 IEEE Int. Conf. on Computer Applications</a:t>
            </a:r>
            <a:r>
              <a:rPr lang="en-US" sz="1300" dirty="0"/>
              <a:t>, pp. 134–139.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10.1109/ICCA56725.2022.10012910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[3] Y. Liu</a:t>
            </a:r>
            <a:r>
              <a:rPr lang="en-US" sz="1300" dirty="0"/>
              <a:t>, J. Yang and F. Zhu, “Emotion-Aware AI </a:t>
            </a:r>
            <a:r>
              <a:rPr lang="en-US" sz="1300" dirty="0" err="1"/>
              <a:t>Chatbot</a:t>
            </a:r>
            <a:r>
              <a:rPr lang="en-US" sz="1300" dirty="0"/>
              <a:t> for Mental Health Support Using Transformer-Based NLP,” </a:t>
            </a:r>
            <a:r>
              <a:rPr lang="en-US" sz="1300" i="1" dirty="0"/>
              <a:t>2023 IEEE Conference on AI in Healthcare</a:t>
            </a:r>
            <a:r>
              <a:rPr lang="en-US" sz="1300" dirty="0"/>
              <a:t>, pp. 66–72.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10.1109/AIHealth.2023.3141182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[4] N. Sharma</a:t>
            </a:r>
            <a:r>
              <a:rPr lang="en-US" sz="1300" dirty="0"/>
              <a:t> and V. K. Jain, “Text-Based Emotion Detection from User Comments Using Hybrid Deep Learning Models,” </a:t>
            </a:r>
            <a:r>
              <a:rPr lang="en-US" sz="1300" i="1" dirty="0"/>
              <a:t>IEEE Transactions on Affective Computing</a:t>
            </a:r>
            <a:r>
              <a:rPr lang="en-US" sz="1300" dirty="0"/>
              <a:t>, Early Access, 2024.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10.1109/TAFFC.2024.3388917</a:t>
            </a:r>
            <a:endParaRPr sz="1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951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 idx="4294967295"/>
          </p:nvPr>
        </p:nvSpPr>
        <p:spPr>
          <a:xfrm>
            <a:off x="689854" y="368825"/>
            <a:ext cx="3882121" cy="7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 b="1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4294967295"/>
          </p:nvPr>
        </p:nvSpPr>
        <p:spPr>
          <a:xfrm>
            <a:off x="1150689" y="1119825"/>
            <a:ext cx="6928400" cy="3061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[5] R. </a:t>
            </a:r>
            <a:r>
              <a:rPr lang="en-US" sz="1300" b="1" dirty="0" err="1"/>
              <a:t>Dutta</a:t>
            </a:r>
            <a:r>
              <a:rPr lang="en-US" sz="1300" dirty="0"/>
              <a:t>, M. </a:t>
            </a:r>
            <a:r>
              <a:rPr lang="en-US" sz="1300" dirty="0" err="1"/>
              <a:t>Chatterjee</a:t>
            </a:r>
            <a:r>
              <a:rPr lang="en-US" sz="1300" dirty="0"/>
              <a:t> and P. Kumar, “Multimodal Emotion Recognition: A Comparative Study on Speech, Text, and Facial Cues,” </a:t>
            </a:r>
            <a:r>
              <a:rPr lang="en-US" sz="1300" i="1" dirty="0"/>
              <a:t>IEEE Access</a:t>
            </a:r>
            <a:r>
              <a:rPr lang="en-US" sz="1300" dirty="0"/>
              <a:t>, vol. 10, pp. 122947–122961, 2022.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10.1109/ACCESS.2022.3217834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[6] A. </a:t>
            </a:r>
            <a:r>
              <a:rPr lang="en-US" sz="1300" b="1" dirty="0" err="1"/>
              <a:t>Sen</a:t>
            </a:r>
            <a:r>
              <a:rPr lang="en-US" sz="1300" dirty="0"/>
              <a:t> and S. Roy, “AI-Powered Recommendation System Based on Mood and Sentiment Analytics,” </a:t>
            </a:r>
            <a:r>
              <a:rPr lang="en-US" sz="1300" i="1" dirty="0"/>
              <a:t>2023 IEEE Int. Conf. on Data Science and Engineering</a:t>
            </a:r>
            <a:r>
              <a:rPr lang="en-US" sz="1300" dirty="0"/>
              <a:t>, pp. 48–55.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10.1109/ICDSE.2023.3290764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[7] H. Li</a:t>
            </a:r>
            <a:r>
              <a:rPr lang="en-US" sz="1300" dirty="0"/>
              <a:t>, Y. Zhou and F. Wang, “Emotion-Driven Conversational Agent Using Deep Reinforcement Learning,” </a:t>
            </a:r>
            <a:r>
              <a:rPr lang="en-US" sz="1300" i="1" dirty="0"/>
              <a:t>IEEE Transactions on Cognitive and Developmental Systems</a:t>
            </a:r>
            <a:r>
              <a:rPr lang="en-US" sz="1300" dirty="0"/>
              <a:t>, vol. 15, no. 2, pp. 355–364, June 2023.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10.1109/TCDS.2023.3257890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300" b="1" dirty="0"/>
              <a:t>[8] A. Mishra</a:t>
            </a:r>
            <a:r>
              <a:rPr lang="en-US" sz="1300" dirty="0"/>
              <a:t>, K. </a:t>
            </a:r>
            <a:r>
              <a:rPr lang="en-US" sz="1300" dirty="0" err="1"/>
              <a:t>Agarwal</a:t>
            </a:r>
            <a:r>
              <a:rPr lang="en-US" sz="1300" dirty="0"/>
              <a:t>, and S. Kumar, “Design of an Emotion-Aware Mental Health </a:t>
            </a:r>
            <a:r>
              <a:rPr lang="en-US" sz="1300" dirty="0" err="1"/>
              <a:t>Chatbot</a:t>
            </a:r>
            <a:r>
              <a:rPr lang="en-US" sz="1300" dirty="0"/>
              <a:t> Using Hybrid NLP Techniques,” </a:t>
            </a:r>
            <a:r>
              <a:rPr lang="en-US" sz="1300" i="1" dirty="0"/>
              <a:t>IEEE Int. Conf. on AI &amp; Human-Computer Interaction</a:t>
            </a:r>
            <a:r>
              <a:rPr lang="en-US" sz="1300" dirty="0"/>
              <a:t>, 2022, pp. 89–94. </a:t>
            </a:r>
            <a:r>
              <a:rPr lang="en-US" sz="1300" b="1" dirty="0" err="1"/>
              <a:t>doi</a:t>
            </a:r>
            <a:r>
              <a:rPr lang="en-US" sz="1300" b="1" dirty="0"/>
              <a:t>:</a:t>
            </a:r>
            <a:r>
              <a:rPr lang="en-US" sz="1300" dirty="0"/>
              <a:t> 10.1109/AIHCI55272.2022.9960472</a:t>
            </a:r>
            <a:endParaRPr sz="1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-25" y="4917825"/>
            <a:ext cx="9144000" cy="2256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900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14225" y="1721850"/>
            <a:ext cx="9122100" cy="16998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ctrTitle"/>
          </p:nvPr>
        </p:nvSpPr>
        <p:spPr>
          <a:xfrm>
            <a:off x="1763550" y="2092950"/>
            <a:ext cx="5616900" cy="9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YOU…!!!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2" descr="D:\NEW_LOGO_GHRUA\GHRU Amravat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118" y="212043"/>
            <a:ext cx="1791942" cy="65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9828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3682</TotalTime>
  <Words>2652</Words>
  <Application>Microsoft Office PowerPoint</Application>
  <PresentationFormat>On-screen Show (16:9)</PresentationFormat>
  <Paragraphs>327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Montserrat</vt:lpstr>
      <vt:lpstr>Wingdings</vt:lpstr>
      <vt:lpstr>Times New Roman</vt:lpstr>
      <vt:lpstr>Simple Light</vt:lpstr>
      <vt:lpstr>PowerPoint Presentation</vt:lpstr>
      <vt:lpstr>PowerPoint Presentation</vt:lpstr>
      <vt:lpstr>ABSTRACT</vt:lpstr>
      <vt:lpstr>ABSTRACT</vt:lpstr>
      <vt:lpstr>INTRODUCTION</vt:lpstr>
      <vt:lpstr>Introduction</vt:lpstr>
      <vt:lpstr>OBJECTIVES</vt:lpstr>
      <vt:lpstr>Objectives</vt:lpstr>
      <vt:lpstr>LITERATURE REVIEW</vt:lpstr>
      <vt:lpstr>Literature Review</vt:lpstr>
      <vt:lpstr>PROBLEM STATEMENT</vt:lpstr>
      <vt:lpstr>Problem Statement</vt:lpstr>
      <vt:lpstr>PROPOSED SYSTEM</vt:lpstr>
      <vt:lpstr>Proposed System</vt:lpstr>
      <vt:lpstr>METHODOLOGY</vt:lpstr>
      <vt:lpstr>Methodology</vt:lpstr>
      <vt:lpstr>Methodology</vt:lpstr>
      <vt:lpstr>Dataset Details</vt:lpstr>
      <vt:lpstr>Dataset Details</vt:lpstr>
      <vt:lpstr>Dataset Details</vt:lpstr>
      <vt:lpstr>Dataset Details</vt:lpstr>
      <vt:lpstr>Dataset Details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MODULES DESCRIPTION</vt:lpstr>
      <vt:lpstr>Modules Description</vt:lpstr>
      <vt:lpstr>PowerPoint Presentation</vt:lpstr>
      <vt:lpstr>Modules Description</vt:lpstr>
      <vt:lpstr>PowerPoint Presentation</vt:lpstr>
      <vt:lpstr>EXPECTED OUTCOMES</vt:lpstr>
      <vt:lpstr>Expected Outcomes</vt:lpstr>
      <vt:lpstr>Actual Outcome</vt:lpstr>
      <vt:lpstr>CONCLUSION</vt:lpstr>
      <vt:lpstr>Conclusion</vt:lpstr>
      <vt:lpstr>REFERENCES</vt:lpstr>
      <vt:lpstr>References</vt:lpstr>
      <vt:lpstr>References</vt:lpstr>
      <vt:lpstr>THANK YOU…!!!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Amol</dc:creator>
  <cp:lastModifiedBy>Harsh Bajaj</cp:lastModifiedBy>
  <cp:revision>119</cp:revision>
  <dcterms:modified xsi:type="dcterms:W3CDTF">2025-12-23T17:40:55Z</dcterms:modified>
</cp:coreProperties>
</file>